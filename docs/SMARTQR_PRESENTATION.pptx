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FBEE44-F8A2-4A95-85EB-978A239344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D9928-18C5-4316-A30B-579BA7E964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CCED30-3113-4699-A3D5-F0DBF742CD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9ADFD2B-98FB-464E-A085-80722E118C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5AEFE61-3451-4EDB-A43B-383D47FB2C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CAE869D-096B-43E5-AC15-230DC587B8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827A683-E680-484B-A0F9-C3420166C2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5BBD2CB-7C04-4720-BB4A-5CCA863D40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6A9BAFD-3B4F-41AB-98F7-712953ED99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B3A1F0F-E4A4-4C23-8E02-D5BEE4BD12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543EAC9-E787-4ABE-B280-4A50E0024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6D0261-3EB6-41DD-8CC1-3FF2A48A55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5D0391-B208-45A0-A8EB-4512FCFD61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CABA5B-1D17-4AB1-A16B-EFBA3CF9E1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F95C17-2C6D-4B04-BDA8-67CD5496B5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EFECD4-0851-44E9-9514-3759E891B6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9C9EA4-B996-45EE-8C0A-8F959985B7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B8973D-CACC-4C3E-A1A8-AD0BAFC6C2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944EB7-D898-45BA-8493-D429A4496D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1ADEEB-58CC-45A6-A7C8-D91D9E2328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8DBF13-C702-4E83-BFCD-616DDDE143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FE8D73-F15E-4EC7-B05F-2BA49C8691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fcomanuelcandela90-dev/SmartQR_API" TargetMode="External"/><Relationship Id="rId2" Type="http://schemas.openxmlformats.org/officeDocument/2006/relationships/hyperlink" Target="https://github.com/fcomanuelcandela90-dev/SmartQR_API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1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3468960" y="439200"/>
            <a:ext cx="1828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11827"/>
                </a:solidFill>
                <a:latin typeface="Aptos"/>
              </a:rPr>
              <a:t>SMART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258520" y="52740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5337000" y="5274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5415480" y="5274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5258520" y="60552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10"/>
          <p:cNvSpPr/>
          <p:nvPr/>
        </p:nvSpPr>
        <p:spPr>
          <a:xfrm>
            <a:off x="5415480" y="60552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5258520" y="6840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5337000" y="68400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5415480" y="6840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14"/>
          <p:cNvSpPr/>
          <p:nvPr/>
        </p:nvSpPr>
        <p:spPr>
          <a:xfrm>
            <a:off x="5572080" y="5274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5650560" y="5274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16"/>
          <p:cNvSpPr/>
          <p:nvPr/>
        </p:nvSpPr>
        <p:spPr>
          <a:xfrm>
            <a:off x="5728680" y="52740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7"/>
          <p:cNvSpPr/>
          <p:nvPr/>
        </p:nvSpPr>
        <p:spPr>
          <a:xfrm>
            <a:off x="5572080" y="60552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18"/>
          <p:cNvSpPr/>
          <p:nvPr/>
        </p:nvSpPr>
        <p:spPr>
          <a:xfrm>
            <a:off x="5728680" y="60552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ectangle 19"/>
          <p:cNvSpPr/>
          <p:nvPr/>
        </p:nvSpPr>
        <p:spPr>
          <a:xfrm>
            <a:off x="5572080" y="68400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20"/>
          <p:cNvSpPr/>
          <p:nvPr/>
        </p:nvSpPr>
        <p:spPr>
          <a:xfrm>
            <a:off x="5650560" y="6840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21"/>
          <p:cNvSpPr/>
          <p:nvPr/>
        </p:nvSpPr>
        <p:spPr>
          <a:xfrm>
            <a:off x="5728680" y="68400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22"/>
          <p:cNvSpPr/>
          <p:nvPr/>
        </p:nvSpPr>
        <p:spPr>
          <a:xfrm>
            <a:off x="5258520" y="84096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23"/>
          <p:cNvSpPr/>
          <p:nvPr/>
        </p:nvSpPr>
        <p:spPr>
          <a:xfrm>
            <a:off x="5337000" y="84096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24"/>
          <p:cNvSpPr/>
          <p:nvPr/>
        </p:nvSpPr>
        <p:spPr>
          <a:xfrm>
            <a:off x="5415480" y="84096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25"/>
          <p:cNvSpPr/>
          <p:nvPr/>
        </p:nvSpPr>
        <p:spPr>
          <a:xfrm>
            <a:off x="5258520" y="91908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26"/>
          <p:cNvSpPr/>
          <p:nvPr/>
        </p:nvSpPr>
        <p:spPr>
          <a:xfrm>
            <a:off x="5415480" y="91908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27"/>
          <p:cNvSpPr/>
          <p:nvPr/>
        </p:nvSpPr>
        <p:spPr>
          <a:xfrm>
            <a:off x="5258520" y="99756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28"/>
          <p:cNvSpPr/>
          <p:nvPr/>
        </p:nvSpPr>
        <p:spPr>
          <a:xfrm>
            <a:off x="5337000" y="99756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29"/>
          <p:cNvSpPr/>
          <p:nvPr/>
        </p:nvSpPr>
        <p:spPr>
          <a:xfrm>
            <a:off x="5415480" y="99756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ectangle 30"/>
          <p:cNvSpPr/>
          <p:nvPr/>
        </p:nvSpPr>
        <p:spPr>
          <a:xfrm>
            <a:off x="5493960" y="75384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31"/>
          <p:cNvSpPr/>
          <p:nvPr/>
        </p:nvSpPr>
        <p:spPr>
          <a:xfrm>
            <a:off x="5572080" y="85140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32"/>
          <p:cNvSpPr/>
          <p:nvPr/>
        </p:nvSpPr>
        <p:spPr>
          <a:xfrm>
            <a:off x="5650560" y="91908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33"/>
          <p:cNvSpPr/>
          <p:nvPr/>
        </p:nvSpPr>
        <p:spPr>
          <a:xfrm>
            <a:off x="5728320" y="99756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Rectangle 34"/>
          <p:cNvSpPr/>
          <p:nvPr/>
        </p:nvSpPr>
        <p:spPr>
          <a:xfrm>
            <a:off x="5572080" y="997560"/>
            <a:ext cx="78120" cy="781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35"/>
          <p:cNvSpPr/>
          <p:nvPr/>
        </p:nvSpPr>
        <p:spPr>
          <a:xfrm>
            <a:off x="5737320" y="720000"/>
            <a:ext cx="1188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11827"/>
                </a:solidFill>
                <a:latin typeface="Aptos"/>
              </a:rPr>
              <a:t>API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6"/>
          <p:cNvSpPr/>
          <p:nvPr/>
        </p:nvSpPr>
        <p:spPr>
          <a:xfrm>
            <a:off x="2469960" y="1265040"/>
            <a:ext cx="6126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Aptos"/>
              </a:rPr>
              <a:t>Backend para flujo digital de restaurante</a:t>
            </a:r>
            <a:r>
              <a:rPr b="0" lang="es-ES" sz="1500" spc="-1" strike="noStrike">
                <a:solidFill>
                  <a:srgbClr val="64748b"/>
                </a:solidFill>
                <a:latin typeface="Aptos"/>
              </a:rPr>
              <a:t>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37"/>
          <p:cNvSpPr/>
          <p:nvPr/>
        </p:nvSpPr>
        <p:spPr>
          <a:xfrm>
            <a:off x="777240" y="1828800"/>
            <a:ext cx="5623200" cy="22399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ounded Rectangle 38"/>
          <p:cNvSpPr/>
          <p:nvPr/>
        </p:nvSpPr>
        <p:spPr>
          <a:xfrm>
            <a:off x="1005840" y="2075760"/>
            <a:ext cx="132552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s-ES" sz="1300" spc="-1" strike="noStrike">
                <a:solidFill>
                  <a:srgbClr val="ffffff"/>
                </a:solidFill>
                <a:latin typeface="Aptos"/>
              </a:rPr>
              <a:t>Descripción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39"/>
          <p:cNvSpPr/>
          <p:nvPr/>
        </p:nvSpPr>
        <p:spPr>
          <a:xfrm>
            <a:off x="1005840" y="2633400"/>
            <a:ext cx="5074560" cy="11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Proyecto Java</a:t>
            </a:r>
            <a:r>
              <a:rPr b="1" lang="es-ES" sz="1700" spc="-1" strike="noStrike">
                <a:solidFill>
                  <a:srgbClr val="111827"/>
                </a:solidFill>
                <a:latin typeface="Aptos"/>
              </a:rPr>
              <a:t> 25</a:t>
            </a: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 Backend</a:t>
            </a:r>
            <a:r>
              <a:rPr b="1" lang="es-ES" sz="1700" spc="-1" strike="noStrike">
                <a:solidFill>
                  <a:srgbClr val="111827"/>
                </a:solidFill>
                <a:latin typeface="Aptos"/>
              </a:rPr>
              <a:t> para la digitalización de restaurantes</a:t>
            </a: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API REST para menú, pedidos, pagos, cocina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y administración en un restaurante.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40"/>
          <p:cNvSpPr/>
          <p:nvPr/>
        </p:nvSpPr>
        <p:spPr>
          <a:xfrm>
            <a:off x="6583680" y="1828800"/>
            <a:ext cx="4800240" cy="223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ounded Rectangle 41"/>
          <p:cNvSpPr/>
          <p:nvPr/>
        </p:nvSpPr>
        <p:spPr>
          <a:xfrm>
            <a:off x="6812280" y="207576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Enfoque del proyecto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42"/>
          <p:cNvSpPr/>
          <p:nvPr/>
        </p:nvSpPr>
        <p:spPr>
          <a:xfrm>
            <a:off x="6812280" y="2633400"/>
            <a:ext cx="4160160" cy="12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s-ES" sz="1550" spc="-1" strike="noStrike">
                <a:solidFill>
                  <a:srgbClr val="111827"/>
                </a:solidFill>
                <a:latin typeface="Aptos"/>
              </a:rPr>
              <a:t>Desarrollado</a:t>
            </a:r>
            <a:r>
              <a:rPr b="1" lang="en-US" sz="1550" spc="-1" strike="noStrike">
                <a:solidFill>
                  <a:srgbClr val="111827"/>
                </a:solidFill>
                <a:latin typeface="Aptos"/>
              </a:rPr>
              <a:t> como estudiante de backend,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50" spc="-1" strike="noStrike">
                <a:solidFill>
                  <a:srgbClr val="475569"/>
                </a:solidFill>
                <a:latin typeface="Aptos"/>
              </a:rPr>
              <a:t>centrado en seguridad, flujo y práctica real</a:t>
            </a:r>
            <a:r>
              <a:rPr b="0" lang="es-ES" sz="1450" spc="-1" strike="noStrike">
                <a:solidFill>
                  <a:srgbClr val="475569"/>
                </a:solidFill>
                <a:latin typeface="Aptos"/>
              </a:rPr>
              <a:t>, mediante requests</a:t>
            </a:r>
            <a:r>
              <a:rPr b="0" lang="en-US" sz="1450" spc="-1" strike="noStrike">
                <a:solidFill>
                  <a:srgbClr val="475569"/>
                </a:solidFill>
                <a:latin typeface="Aptos"/>
              </a:rPr>
              <a:t>.</a:t>
            </a:r>
            <a:r>
              <a:rPr b="0" lang="es-ES" sz="1450" spc="-1" strike="noStrike">
                <a:solidFill>
                  <a:srgbClr val="475569"/>
                </a:solidFill>
                <a:latin typeface="Aptos"/>
              </a:rPr>
              <a:t>http para la prueba en distintos roles.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43"/>
          <p:cNvSpPr/>
          <p:nvPr/>
        </p:nvSpPr>
        <p:spPr>
          <a:xfrm>
            <a:off x="2154960" y="470916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Java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44"/>
          <p:cNvSpPr/>
          <p:nvPr/>
        </p:nvSpPr>
        <p:spPr>
          <a:xfrm>
            <a:off x="3215520" y="4709160"/>
            <a:ext cx="110592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Spring Boot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45"/>
          <p:cNvSpPr/>
          <p:nvPr/>
        </p:nvSpPr>
        <p:spPr>
          <a:xfrm>
            <a:off x="6654240" y="4710960"/>
            <a:ext cx="132552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Spring Security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46"/>
          <p:cNvSpPr/>
          <p:nvPr/>
        </p:nvSpPr>
        <p:spPr>
          <a:xfrm>
            <a:off x="8147880" y="470088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JWT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47"/>
          <p:cNvSpPr/>
          <p:nvPr/>
        </p:nvSpPr>
        <p:spPr>
          <a:xfrm>
            <a:off x="9235440" y="469332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MySQL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48"/>
          <p:cNvSpPr/>
          <p:nvPr/>
        </p:nvSpPr>
        <p:spPr>
          <a:xfrm>
            <a:off x="5572080" y="46958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JPA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49"/>
          <p:cNvSpPr/>
          <p:nvPr/>
        </p:nvSpPr>
        <p:spPr>
          <a:xfrm>
            <a:off x="4489920" y="46958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Maven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50"/>
          <p:cNvSpPr/>
          <p:nvPr/>
        </p:nvSpPr>
        <p:spPr>
          <a:xfrm>
            <a:off x="2877120" y="5120640"/>
            <a:ext cx="9964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Spring AI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51"/>
          <p:cNvSpPr/>
          <p:nvPr/>
        </p:nvSpPr>
        <p:spPr>
          <a:xfrm>
            <a:off x="4020120" y="51206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OpenAI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52"/>
          <p:cNvSpPr/>
          <p:nvPr/>
        </p:nvSpPr>
        <p:spPr>
          <a:xfrm>
            <a:off x="5081040" y="51206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Ollama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53"/>
          <p:cNvSpPr/>
          <p:nvPr/>
        </p:nvSpPr>
        <p:spPr>
          <a:xfrm>
            <a:off x="6141600" y="51206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MCP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54"/>
          <p:cNvSpPr/>
          <p:nvPr/>
        </p:nvSpPr>
        <p:spPr>
          <a:xfrm>
            <a:off x="7202160" y="512064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JFreeChart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55"/>
          <p:cNvSpPr/>
          <p:nvPr/>
        </p:nvSpPr>
        <p:spPr>
          <a:xfrm>
            <a:off x="8400240" y="51206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ZXing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56"/>
          <p:cNvSpPr/>
          <p:nvPr/>
        </p:nvSpPr>
        <p:spPr>
          <a:xfrm>
            <a:off x="2804040" y="5695200"/>
            <a:ext cx="658332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700" spc="-1" strike="noStrike">
                <a:solidFill>
                  <a:srgbClr val="111827"/>
                </a:solidFill>
                <a:latin typeface="Aptos"/>
              </a:rPr>
              <a:t>Francisco Manuel Candela Manchón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50" spc="-1" strike="noStrike">
                <a:solidFill>
                  <a:srgbClr val="64748b"/>
                </a:solidFill>
                <a:latin typeface="Aptos"/>
              </a:rPr>
              <a:t>Ironhack Java Backend Final Project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31"/>
          <p:cNvSpPr/>
          <p:nvPr/>
        </p:nvSpPr>
        <p:spPr>
          <a:xfrm>
            <a:off x="5728680" y="83988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31"/>
          <p:cNvSpPr/>
          <p:nvPr/>
        </p:nvSpPr>
        <p:spPr>
          <a:xfrm>
            <a:off x="5258520" y="758520"/>
            <a:ext cx="78120" cy="78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ounded Rectangle 12"/>
          <p:cNvSpPr/>
          <p:nvPr/>
        </p:nvSpPr>
        <p:spPr>
          <a:xfrm>
            <a:off x="5412960" y="6402240"/>
            <a:ext cx="1232280" cy="3625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 u="sng">
                <a:solidFill>
                  <a:schemeClr val="lt1"/>
                </a:solidFill>
                <a:uFillTx/>
                <a:latin typeface="Aptos"/>
                <a:hlinkClick r:id="rId1"/>
              </a:rPr>
              <a:t>Enlace al </a:t>
            </a:r>
            <a:r>
              <a:rPr b="1" lang="en-US" sz="800" spc="-1" strike="noStrike" u="sng">
                <a:solidFill>
                  <a:schemeClr val="lt1"/>
                </a:solidFill>
                <a:uFillTx/>
                <a:latin typeface="Aptos"/>
                <a:hlinkClick r:id="rId2"/>
              </a:rPr>
              <a:t>repositorio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Imagen 63" descr=""/>
          <p:cNvPicPr/>
          <p:nvPr/>
        </p:nvPicPr>
        <p:blipFill>
          <a:blip r:embed="rId3"/>
          <a:stretch/>
        </p:blipFill>
        <p:spPr>
          <a:xfrm>
            <a:off x="4979880" y="6388560"/>
            <a:ext cx="396000" cy="39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Sobre mí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ounded Rectangle 6"/>
          <p:cNvSpPr/>
          <p:nvPr/>
        </p:nvSpPr>
        <p:spPr>
          <a:xfrm>
            <a:off x="731520" y="1417320"/>
            <a:ext cx="3657240" cy="48916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ounded Rectangle 7"/>
          <p:cNvSpPr/>
          <p:nvPr/>
        </p:nvSpPr>
        <p:spPr>
          <a:xfrm>
            <a:off x="960120" y="1664280"/>
            <a:ext cx="164556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Un poco sobre mí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1005840" y="2240280"/>
            <a:ext cx="2971440" cy="47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Soy de Crevillente</a:t>
            </a: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 una localidad de la provincia de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 Alicante,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y a</a:t>
            </a: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ctualmente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 vivo en Toledo capital.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Me interesa mucho la tecnología y,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fuera del ordenador, disfruto del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S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enderismo</a:t>
            </a: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 con la compañía de mis perritas, y de vez en cuando hago alguna salida de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</a:rPr>
              <a:t> MTB.</a:t>
            </a: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 </a:t>
            </a:r>
            <a:br>
              <a:rPr sz="1400"/>
            </a:br>
            <a:br>
              <a:rPr sz="1400"/>
            </a:b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Estudiante de Java Back-end, todavía con muchas cosas por aprender 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s-ES" sz="1400" spc="-1" strike="noStrike">
                <a:solidFill>
                  <a:srgbClr val="475569"/>
                </a:solidFill>
                <a:latin typeface="Aptos"/>
              </a:rPr>
              <a:t>Y con ganas de seguir formándome en el sector, con la futura trayectoria de aprende Front-end.</a:t>
            </a:r>
            <a:br>
              <a:rPr sz="1400"/>
            </a:b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9"/>
          <p:cNvSpPr/>
          <p:nvPr/>
        </p:nvSpPr>
        <p:spPr>
          <a:xfrm>
            <a:off x="4709160" y="1417320"/>
            <a:ext cx="315432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ounded Rectangle 10"/>
          <p:cNvSpPr/>
          <p:nvPr/>
        </p:nvSpPr>
        <p:spPr>
          <a:xfrm>
            <a:off x="4937760" y="1664280"/>
            <a:ext cx="141696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Crevillente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Picture 11" descr="crevillente_photo.png"/>
          <p:cNvPicPr/>
          <p:nvPr/>
        </p:nvPicPr>
        <p:blipFill>
          <a:blip r:embed="rId1"/>
          <a:stretch/>
        </p:blipFill>
        <p:spPr>
          <a:xfrm>
            <a:off x="4919400" y="2148840"/>
            <a:ext cx="2742840" cy="1965600"/>
          </a:xfrm>
          <a:prstGeom prst="rect">
            <a:avLst/>
          </a:prstGeom>
          <a:ln w="0">
            <a:noFill/>
          </a:ln>
        </p:spPr>
      </p:pic>
      <p:sp>
        <p:nvSpPr>
          <p:cNvPr id="138" name="TextBox 12"/>
          <p:cNvSpPr/>
          <p:nvPr/>
        </p:nvSpPr>
        <p:spPr>
          <a:xfrm>
            <a:off x="4983480" y="4434840"/>
            <a:ext cx="255996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Mi punto de partida.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475569"/>
                </a:solidFill>
                <a:latin typeface="Aptos"/>
              </a:rPr>
              <a:t>Cerca de la sierra y la naturaleza.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13"/>
          <p:cNvSpPr/>
          <p:nvPr/>
        </p:nvSpPr>
        <p:spPr>
          <a:xfrm>
            <a:off x="8229600" y="1417320"/>
            <a:ext cx="315432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ounded Rectangle 14"/>
          <p:cNvSpPr/>
          <p:nvPr/>
        </p:nvSpPr>
        <p:spPr>
          <a:xfrm>
            <a:off x="8458200" y="1664280"/>
            <a:ext cx="1234080" cy="383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Toledo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1" name="Picture 15" descr="toledo_photo.png"/>
          <p:cNvPicPr/>
          <p:nvPr/>
        </p:nvPicPr>
        <p:blipFill>
          <a:blip r:embed="rId2"/>
          <a:stretch/>
        </p:blipFill>
        <p:spPr>
          <a:xfrm>
            <a:off x="8439840" y="2148840"/>
            <a:ext cx="2742840" cy="1965600"/>
          </a:xfrm>
          <a:prstGeom prst="rect">
            <a:avLst/>
          </a:prstGeom>
          <a:ln w="0">
            <a:noFill/>
          </a:ln>
        </p:spPr>
      </p:pic>
      <p:sp>
        <p:nvSpPr>
          <p:cNvPr id="142" name="TextBox 16"/>
          <p:cNvSpPr/>
          <p:nvPr/>
        </p:nvSpPr>
        <p:spPr>
          <a:xfrm>
            <a:off x="8503920" y="4434840"/>
            <a:ext cx="255996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Donde sigo formándome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475569"/>
                </a:solidFill>
                <a:latin typeface="Aptos"/>
              </a:rPr>
              <a:t>y preparando mi camino.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3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De una carta QR a un flujo completo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6"/>
          <p:cNvSpPr/>
          <p:nvPr/>
        </p:nvSpPr>
        <p:spPr>
          <a:xfrm>
            <a:off x="731520" y="1508760"/>
            <a:ext cx="5394600" cy="1828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ounded Rectangle 7"/>
          <p:cNvSpPr/>
          <p:nvPr/>
        </p:nvSpPr>
        <p:spPr>
          <a:xfrm>
            <a:off x="960120" y="1755720"/>
            <a:ext cx="1234080" cy="38376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El problema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960120" y="2212920"/>
            <a:ext cx="47545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50" spc="-1" strike="noStrike">
                <a:solidFill>
                  <a:srgbClr val="475569"/>
                </a:solidFill>
                <a:latin typeface="Aptos"/>
              </a:rPr>
              <a:t>En muchos restaurantes, el QR solo abre una carta en PDF.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50" spc="-1" strike="noStrike">
                <a:solidFill>
                  <a:srgbClr val="475569"/>
                </a:solidFill>
                <a:latin typeface="Aptos"/>
              </a:rPr>
              <a:t>El pedido y la gestión siguen siendo manuales.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6217920" y="1508760"/>
            <a:ext cx="5257440" cy="1828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ounded Rectangle 10"/>
          <p:cNvSpPr/>
          <p:nvPr/>
        </p:nvSpPr>
        <p:spPr>
          <a:xfrm>
            <a:off x="6446520" y="1755720"/>
            <a:ext cx="1234080" cy="383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La solución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6446520" y="2212920"/>
            <a:ext cx="457164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50" spc="-1" strike="noStrike">
                <a:solidFill>
                  <a:srgbClr val="475569"/>
                </a:solidFill>
                <a:latin typeface="Aptos"/>
              </a:rPr>
              <a:t>SmartQR lleva esa idea un paso más allá.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50" spc="-1" strike="noStrike">
                <a:solidFill>
                  <a:srgbClr val="475569"/>
                </a:solidFill>
                <a:latin typeface="Aptos"/>
              </a:rPr>
              <a:t>Conecta menú, pedido, pago, cocina y administración.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868680" y="4297680"/>
            <a:ext cx="150840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13"/>
          <p:cNvSpPr/>
          <p:nvPr/>
        </p:nvSpPr>
        <p:spPr>
          <a:xfrm>
            <a:off x="941760" y="4507920"/>
            <a:ext cx="1371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QR / Menú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Chevron 14"/>
          <p:cNvSpPr/>
          <p:nvPr/>
        </p:nvSpPr>
        <p:spPr>
          <a:xfrm>
            <a:off x="2477880" y="4507920"/>
            <a:ext cx="255600" cy="2556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ounded Rectangle 15"/>
          <p:cNvSpPr/>
          <p:nvPr/>
        </p:nvSpPr>
        <p:spPr>
          <a:xfrm>
            <a:off x="3108960" y="4297680"/>
            <a:ext cx="150840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3182040" y="4507920"/>
            <a:ext cx="1371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Pedido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Chevron 17"/>
          <p:cNvSpPr/>
          <p:nvPr/>
        </p:nvSpPr>
        <p:spPr>
          <a:xfrm>
            <a:off x="4718160" y="4507920"/>
            <a:ext cx="255600" cy="2556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ounded Rectangle 18"/>
          <p:cNvSpPr/>
          <p:nvPr/>
        </p:nvSpPr>
        <p:spPr>
          <a:xfrm>
            <a:off x="5349240" y="4297680"/>
            <a:ext cx="150840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5422320" y="4507920"/>
            <a:ext cx="1371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Pago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Chevron 20"/>
          <p:cNvSpPr/>
          <p:nvPr/>
        </p:nvSpPr>
        <p:spPr>
          <a:xfrm>
            <a:off x="6958440" y="4507920"/>
            <a:ext cx="255600" cy="2556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ounded Rectangle 21"/>
          <p:cNvSpPr/>
          <p:nvPr/>
        </p:nvSpPr>
        <p:spPr>
          <a:xfrm>
            <a:off x="7589520" y="4297680"/>
            <a:ext cx="150840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6366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7662600" y="4507920"/>
            <a:ext cx="1371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Cocina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hevron 23"/>
          <p:cNvSpPr/>
          <p:nvPr/>
        </p:nvSpPr>
        <p:spPr>
          <a:xfrm>
            <a:off x="9198720" y="4507920"/>
            <a:ext cx="255600" cy="2556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ounded Rectangle 24"/>
          <p:cNvSpPr/>
          <p:nvPr/>
        </p:nvSpPr>
        <p:spPr>
          <a:xfrm>
            <a:off x="9829800" y="4297680"/>
            <a:ext cx="150840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25"/>
          <p:cNvSpPr/>
          <p:nvPr/>
        </p:nvSpPr>
        <p:spPr>
          <a:xfrm>
            <a:off x="9902880" y="4507920"/>
            <a:ext cx="1371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11827"/>
                </a:solidFill>
                <a:latin typeface="Aptos"/>
              </a:rPr>
              <a:t>Dashboard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4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Tres perfiles, tres responsabilidades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6"/>
          <p:cNvSpPr/>
          <p:nvPr/>
        </p:nvSpPr>
        <p:spPr>
          <a:xfrm>
            <a:off x="731520" y="1645920"/>
            <a:ext cx="3245760" cy="3245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ounded Rectangle 7"/>
          <p:cNvSpPr/>
          <p:nvPr/>
        </p:nvSpPr>
        <p:spPr>
          <a:xfrm>
            <a:off x="960120" y="190188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CUSTOMER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960120" y="2514600"/>
            <a:ext cx="269712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Carta, pedidos y pagos.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Estado de pedido, ticket,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feedback y combo</a:t>
            </a:r>
            <a:r>
              <a:rPr b="0" lang="es-ES" sz="1420" spc="-1" strike="noStrike">
                <a:solidFill>
                  <a:srgbClr val="475569"/>
                </a:solidFill>
                <a:latin typeface="Aptos"/>
              </a:rPr>
              <a:t>s generados  por</a:t>
            </a: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 IA</a:t>
            </a:r>
            <a:r>
              <a:rPr b="0" lang="es-ES" sz="1420" spc="-1" strike="noStrike">
                <a:solidFill>
                  <a:srgbClr val="475569"/>
                </a:solidFill>
                <a:latin typeface="Aptos"/>
              </a:rPr>
              <a:t> a petición del cliente</a:t>
            </a: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.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9"/>
          <p:cNvSpPr/>
          <p:nvPr/>
        </p:nvSpPr>
        <p:spPr>
          <a:xfrm>
            <a:off x="4526280" y="1645920"/>
            <a:ext cx="3245760" cy="3245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Rounded Rectangle 10"/>
          <p:cNvSpPr/>
          <p:nvPr/>
        </p:nvSpPr>
        <p:spPr>
          <a:xfrm>
            <a:off x="4754880" y="190188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EMPLOYEE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4754880" y="2514600"/>
            <a:ext cx="269712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s-ES" sz="1420" spc="-1" strike="noStrike">
                <a:solidFill>
                  <a:srgbClr val="475569"/>
                </a:solidFill>
                <a:latin typeface="Aptos"/>
              </a:rPr>
              <a:t>Crear un </a:t>
            </a: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QR de mesa.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s-ES" sz="1420" spc="-1" strike="noStrike">
                <a:solidFill>
                  <a:srgbClr val="475569"/>
                </a:solidFill>
                <a:latin typeface="Aptos"/>
              </a:rPr>
              <a:t>Ver la c</a:t>
            </a: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ola de cocina, estados</a:t>
            </a:r>
            <a:r>
              <a:rPr b="0" lang="es-ES" sz="1420" spc="-1" strike="noStrike">
                <a:solidFill>
                  <a:srgbClr val="475569"/>
                </a:solidFill>
                <a:latin typeface="Aptos"/>
              </a:rPr>
              <a:t> de pedido</a:t>
            </a: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 y</a:t>
            </a:r>
            <a:r>
              <a:rPr b="0" lang="es-ES" sz="1420" spc="-1" strike="noStrike">
                <a:solidFill>
                  <a:srgbClr val="475569"/>
                </a:solidFill>
                <a:latin typeface="Aptos"/>
              </a:rPr>
              <a:t> validar los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pagos en efectivo.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12"/>
          <p:cNvSpPr/>
          <p:nvPr/>
        </p:nvSpPr>
        <p:spPr>
          <a:xfrm>
            <a:off x="8321040" y="1645920"/>
            <a:ext cx="3245760" cy="3245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ounded Rectangle 13"/>
          <p:cNvSpPr/>
          <p:nvPr/>
        </p:nvSpPr>
        <p:spPr>
          <a:xfrm>
            <a:off x="8549640" y="190188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ADMIN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14"/>
          <p:cNvSpPr/>
          <p:nvPr/>
        </p:nvSpPr>
        <p:spPr>
          <a:xfrm>
            <a:off x="8549640" y="2514600"/>
            <a:ext cx="269712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Gestión de productos.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Métricas, gráficos,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420" spc="-1" strike="noStrike">
                <a:solidFill>
                  <a:srgbClr val="475569"/>
                </a:solidFill>
                <a:latin typeface="Aptos"/>
              </a:rPr>
              <a:t>Ollama/MCP y chat con OpenIA.</a:t>
            </a:r>
            <a:endParaRPr b="0" lang="es-ES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15"/>
          <p:cNvSpPr/>
          <p:nvPr/>
        </p:nvSpPr>
        <p:spPr>
          <a:xfrm>
            <a:off x="1508760" y="5349240"/>
            <a:ext cx="9143640" cy="712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Aptos"/>
              </a:rPr>
              <a:t>La demo recorre el flujo por perfiles: primero cliente, después empleado y por último administrador.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5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Arquitectura y seguridad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6"/>
          <p:cNvSpPr/>
          <p:nvPr/>
        </p:nvSpPr>
        <p:spPr>
          <a:xfrm>
            <a:off x="731520" y="1600200"/>
            <a:ext cx="2834280" cy="4388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ounded Rectangle 7"/>
          <p:cNvSpPr/>
          <p:nvPr/>
        </p:nvSpPr>
        <p:spPr>
          <a:xfrm>
            <a:off x="960120" y="184716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Capas del proyecto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ounded Rectangle 8"/>
          <p:cNvSpPr/>
          <p:nvPr/>
        </p:nvSpPr>
        <p:spPr>
          <a:xfrm>
            <a:off x="1508760" y="235908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Controller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hevron 9"/>
          <p:cNvSpPr/>
          <p:nvPr/>
        </p:nvSpPr>
        <p:spPr>
          <a:xfrm rot="5400000">
            <a:off x="2012040" y="2761200"/>
            <a:ext cx="255600" cy="1458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ounded Rectangle 10"/>
          <p:cNvSpPr/>
          <p:nvPr/>
        </p:nvSpPr>
        <p:spPr>
          <a:xfrm>
            <a:off x="1499760" y="299916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DTO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hevron 11"/>
          <p:cNvSpPr/>
          <p:nvPr/>
        </p:nvSpPr>
        <p:spPr>
          <a:xfrm rot="5400000">
            <a:off x="2012040" y="3409200"/>
            <a:ext cx="255600" cy="1458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ounded Rectangle 12"/>
          <p:cNvSpPr/>
          <p:nvPr/>
        </p:nvSpPr>
        <p:spPr>
          <a:xfrm>
            <a:off x="1499760" y="365760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Service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4"/>
          <p:cNvSpPr/>
          <p:nvPr/>
        </p:nvSpPr>
        <p:spPr>
          <a:xfrm>
            <a:off x="1508760" y="431136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Repository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16"/>
          <p:cNvSpPr/>
          <p:nvPr/>
        </p:nvSpPr>
        <p:spPr>
          <a:xfrm>
            <a:off x="1499760" y="496980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Entity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8"/>
          <p:cNvSpPr/>
          <p:nvPr/>
        </p:nvSpPr>
        <p:spPr>
          <a:xfrm>
            <a:off x="1508760" y="563112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MySQL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19"/>
          <p:cNvSpPr/>
          <p:nvPr/>
        </p:nvSpPr>
        <p:spPr>
          <a:xfrm>
            <a:off x="3817800" y="1600200"/>
            <a:ext cx="7634880" cy="4388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ounded Rectangle 20"/>
          <p:cNvSpPr/>
          <p:nvPr/>
        </p:nvSpPr>
        <p:spPr>
          <a:xfrm>
            <a:off x="4069080" y="184716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Seguridad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21"/>
          <p:cNvSpPr/>
          <p:nvPr/>
        </p:nvSpPr>
        <p:spPr>
          <a:xfrm>
            <a:off x="4160520" y="2331720"/>
            <a:ext cx="6857640" cy="9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Spring Security con JWT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Roles: CUSTOMER, EMPLOYEE y ADMIN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475569"/>
                </a:solidFill>
                <a:latin typeface="Aptos"/>
              </a:rPr>
              <a:t>Control de pedidos propios del cliente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ounded Rectangle 22"/>
          <p:cNvSpPr/>
          <p:nvPr/>
        </p:nvSpPr>
        <p:spPr>
          <a:xfrm>
            <a:off x="4206240" y="4028040"/>
            <a:ext cx="685764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11827"/>
                </a:solidFill>
                <a:latin typeface="Aptos"/>
              </a:rPr>
              <a:t>No basta con estar autenticado: también hay que comprobar a qué datos puede acceder cada usuario.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hevron 11"/>
          <p:cNvSpPr/>
          <p:nvPr/>
        </p:nvSpPr>
        <p:spPr>
          <a:xfrm rot="5400000">
            <a:off x="2012040" y="4049280"/>
            <a:ext cx="255600" cy="1458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Chevron 11"/>
          <p:cNvSpPr/>
          <p:nvPr/>
        </p:nvSpPr>
        <p:spPr>
          <a:xfrm rot="5400000">
            <a:off x="2025720" y="4736520"/>
            <a:ext cx="255600" cy="1458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Chevron 11"/>
          <p:cNvSpPr/>
          <p:nvPr/>
        </p:nvSpPr>
        <p:spPr>
          <a:xfrm rot="5400000">
            <a:off x="2012040" y="5388840"/>
            <a:ext cx="255600" cy="145800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6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Retos técnicos más importantes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ounded Rectangle 6"/>
          <p:cNvSpPr/>
          <p:nvPr/>
        </p:nvSpPr>
        <p:spPr>
          <a:xfrm>
            <a:off x="713160" y="1783080"/>
            <a:ext cx="3291480" cy="3520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Rounded Rectangle 7"/>
          <p:cNvSpPr/>
          <p:nvPr/>
        </p:nvSpPr>
        <p:spPr>
          <a:xfrm>
            <a:off x="941760" y="2030040"/>
            <a:ext cx="141696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Reto 1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941760" y="2651760"/>
            <a:ext cx="2742840" cy="10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111827"/>
                </a:solidFill>
                <a:latin typeface="Aptos"/>
              </a:rPr>
              <a:t>Separar bien los flujos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475569"/>
                </a:solidFill>
                <a:latin typeface="Aptos"/>
              </a:rPr>
              <a:t>por perfil y ordenar las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475569"/>
                </a:solidFill>
                <a:latin typeface="Aptos"/>
              </a:rPr>
              <a:t>rutas para que todo tuviera sentido.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9"/>
          <p:cNvSpPr/>
          <p:nvPr/>
        </p:nvSpPr>
        <p:spPr>
          <a:xfrm>
            <a:off x="4535280" y="1783080"/>
            <a:ext cx="3291480" cy="3520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Rounded Rectangle 10"/>
          <p:cNvSpPr/>
          <p:nvPr/>
        </p:nvSpPr>
        <p:spPr>
          <a:xfrm>
            <a:off x="4763880" y="2030040"/>
            <a:ext cx="1416960" cy="38376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Reto 2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4763880" y="2651760"/>
            <a:ext cx="2742840" cy="8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111827"/>
                </a:solidFill>
                <a:latin typeface="Aptos"/>
              </a:rPr>
              <a:t>Combinar login con JWT,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475569"/>
                </a:solidFill>
                <a:latin typeface="Aptos"/>
              </a:rPr>
              <a:t>permisos por rol y control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475569"/>
                </a:solidFill>
                <a:latin typeface="Aptos"/>
              </a:rPr>
              <a:t>de pedidos propios.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12"/>
          <p:cNvSpPr/>
          <p:nvPr/>
        </p:nvSpPr>
        <p:spPr>
          <a:xfrm>
            <a:off x="8357760" y="1783080"/>
            <a:ext cx="3291480" cy="3520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ounded Rectangle 13"/>
          <p:cNvSpPr/>
          <p:nvPr/>
        </p:nvSpPr>
        <p:spPr>
          <a:xfrm>
            <a:off x="8586360" y="2030040"/>
            <a:ext cx="1782720" cy="383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Cómo lo resolví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8586360" y="2651760"/>
            <a:ext cx="274284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600" spc="-1" strike="noStrike">
                <a:solidFill>
                  <a:srgbClr val="111827"/>
                </a:solidFill>
                <a:latin typeface="Aptos"/>
              </a:rPr>
              <a:t>Rutas protegidas</a:t>
            </a:r>
            <a:r>
              <a:rPr b="1" lang="es-ES" sz="1600" spc="-1" strike="noStrike">
                <a:solidFill>
                  <a:srgbClr val="111827"/>
                </a:solidFill>
                <a:latin typeface="Aptos"/>
              </a:rPr>
              <a:t>,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s-ES" sz="1500" spc="-1" strike="noStrike">
                <a:solidFill>
                  <a:srgbClr val="475569"/>
                </a:solidFill>
                <a:latin typeface="Aptos"/>
              </a:rPr>
              <a:t>por rol y</a:t>
            </a:r>
            <a:r>
              <a:rPr b="0" lang="en-US" sz="1500" spc="-1" strike="noStrike">
                <a:solidFill>
                  <a:srgbClr val="475569"/>
                </a:solidFill>
                <a:latin typeface="Aptos"/>
              </a:rPr>
              <a:t> servicios validando reglas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475569"/>
                </a:solidFill>
                <a:latin typeface="Aptos"/>
              </a:rPr>
              <a:t>de negocio antes de tocar datos.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ounded Rectangle 15"/>
          <p:cNvSpPr/>
          <p:nvPr/>
        </p:nvSpPr>
        <p:spPr>
          <a:xfrm>
            <a:off x="1920240" y="555948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JWT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16"/>
          <p:cNvSpPr/>
          <p:nvPr/>
        </p:nvSpPr>
        <p:spPr>
          <a:xfrm>
            <a:off x="3474720" y="555948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Roles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17"/>
          <p:cNvSpPr/>
          <p:nvPr/>
        </p:nvSpPr>
        <p:spPr>
          <a:xfrm>
            <a:off x="5029200" y="5559480"/>
            <a:ext cx="9964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Ownership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ounded Rectangle 18"/>
          <p:cNvSpPr/>
          <p:nvPr/>
        </p:nvSpPr>
        <p:spPr>
          <a:xfrm>
            <a:off x="7360920" y="5559480"/>
            <a:ext cx="9964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Servicios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ounded Rectangle 19"/>
          <p:cNvSpPr/>
          <p:nvPr/>
        </p:nvSpPr>
        <p:spPr>
          <a:xfrm>
            <a:off x="8915400" y="5559480"/>
            <a:ext cx="11610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</a:rPr>
              <a:t>Validaciones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7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Errores y aprendizaje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6"/>
          <p:cNvSpPr/>
          <p:nvPr/>
        </p:nvSpPr>
        <p:spPr>
          <a:xfrm>
            <a:off x="777240" y="1783080"/>
            <a:ext cx="5074560" cy="37944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ounded Rectangle 7"/>
          <p:cNvSpPr/>
          <p:nvPr/>
        </p:nvSpPr>
        <p:spPr>
          <a:xfrm>
            <a:off x="1005840" y="2030040"/>
            <a:ext cx="1416960" cy="38376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Errores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1051560" y="2606040"/>
            <a:ext cx="4434480" cy="22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Confiar demasiado en tener login con JWT y no revisar bien el ownership al principio.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Dejar algunas validaciones del flujo para demasiado tarde, ya en fase de pruebas.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Intentar meter varias cosas a la vez en lugar de cerrar antes el flujo base.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ounded Rectangle 9"/>
          <p:cNvSpPr/>
          <p:nvPr/>
        </p:nvSpPr>
        <p:spPr>
          <a:xfrm>
            <a:off x="6355080" y="1783080"/>
            <a:ext cx="5074560" cy="37944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ounded Rectangle 10"/>
          <p:cNvSpPr/>
          <p:nvPr/>
        </p:nvSpPr>
        <p:spPr>
          <a:xfrm>
            <a:off x="6583680" y="2030040"/>
            <a:ext cx="1599840" cy="383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Qué aprendí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Box 11"/>
          <p:cNvSpPr/>
          <p:nvPr/>
        </p:nvSpPr>
        <p:spPr>
          <a:xfrm>
            <a:off x="6629400" y="2606040"/>
            <a:ext cx="4434480" cy="22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La seguridad no es solo autenticación: también es control de acceso a datos reales.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El flujo principal hay que probarlo pronto, aunque todavía no esté todo perfecto.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340" spc="-1" strike="noStrike">
                <a:solidFill>
                  <a:srgbClr val="475569"/>
                </a:solidFill>
                <a:latin typeface="Aptos"/>
              </a:rPr>
              <a:t>Como estudiante de backend, me compensa más una base sólida que añadir extras demasiado rápido.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8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5"/>
          <p:cNvSpPr/>
          <p:nvPr/>
        </p:nvSpPr>
        <p:spPr>
          <a:xfrm>
            <a:off x="640080" y="594360"/>
            <a:ext cx="1078956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11827"/>
                </a:solidFill>
                <a:latin typeface="Aptos Display"/>
              </a:rPr>
              <a:t>DEMO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pc="-1" strike="noStrike">
                <a:solidFill>
                  <a:srgbClr val="64748b"/>
                </a:solidFill>
                <a:latin typeface="Aptos"/>
              </a:rPr>
              <a:t>Flujo principal de la API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6"/>
          <p:cNvSpPr/>
          <p:nvPr/>
        </p:nvSpPr>
        <p:spPr>
          <a:xfrm>
            <a:off x="640080" y="1306080"/>
            <a:ext cx="5851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400" spc="-1" strike="noStrike">
                <a:solidFill>
                  <a:srgbClr val="64748b"/>
                </a:solidFill>
                <a:latin typeface="Aptos"/>
              </a:rPr>
              <a:t>Entorno de ejecución en intelliJ IDEA en</a:t>
            </a:r>
            <a:r>
              <a:rPr b="0" lang="en-US" sz="1400" spc="-1" strike="noStrike">
                <a:solidFill>
                  <a:srgbClr val="64748b"/>
                </a:solidFill>
                <a:latin typeface="Aptos"/>
              </a:rPr>
              <a:t> archivos </a:t>
            </a:r>
            <a:r>
              <a:rPr b="0" lang="es-ES" sz="1400" spc="-1" strike="noStrike">
                <a:solidFill>
                  <a:srgbClr val="64748b"/>
                </a:solidFill>
                <a:latin typeface="Aptos"/>
              </a:rPr>
              <a:t>.http </a:t>
            </a:r>
            <a:r>
              <a:rPr b="0" lang="en-US" sz="1400" spc="-1" strike="noStrike">
                <a:solidFill>
                  <a:srgbClr val="64748b"/>
                </a:solidFill>
                <a:latin typeface="Aptos"/>
              </a:rPr>
              <a:t>separados por </a:t>
            </a:r>
            <a:r>
              <a:rPr b="0" lang="es-ES" sz="1400" spc="-1" strike="noStrike">
                <a:solidFill>
                  <a:srgbClr val="64748b"/>
                </a:solidFill>
                <a:latin typeface="Aptos"/>
              </a:rPr>
              <a:t>ROL</a:t>
            </a:r>
            <a:r>
              <a:rPr b="0" lang="en-US" sz="1400" spc="-1" strike="noStrike">
                <a:solidFill>
                  <a:srgbClr val="64748b"/>
                </a:solidFill>
                <a:latin typeface="Aptos"/>
              </a:rPr>
              <a:t>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ounded Rectangle 7"/>
          <p:cNvSpPr/>
          <p:nvPr/>
        </p:nvSpPr>
        <p:spPr>
          <a:xfrm>
            <a:off x="228600" y="1810440"/>
            <a:ext cx="3931560" cy="3520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Obtener el menú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Crear un pedido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Simular un pago con tarjeta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Obtener el ticket del pedido después de procesar el pago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Enviar un feedback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EXTRA: Obtener una recomendación de combo para “X” comensales y precio limite, gracias al API de OpenAI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ounded Rectangle 8"/>
          <p:cNvSpPr/>
          <p:nvPr/>
        </p:nvSpPr>
        <p:spPr>
          <a:xfrm>
            <a:off x="1649880" y="188964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CUSTOMER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ounded Rectangle 10"/>
          <p:cNvSpPr/>
          <p:nvPr/>
        </p:nvSpPr>
        <p:spPr>
          <a:xfrm>
            <a:off x="4381560" y="1755720"/>
            <a:ext cx="3718080" cy="3547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Gestionar los pedidos en cocina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Cambiar el estado de un pedido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Validar los pagos en efectivo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ounded Rectangle 11"/>
          <p:cNvSpPr/>
          <p:nvPr/>
        </p:nvSpPr>
        <p:spPr>
          <a:xfrm>
            <a:off x="5577840" y="188964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EMPLOYEE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Rounded Rectangle 13"/>
          <p:cNvSpPr/>
          <p:nvPr/>
        </p:nvSpPr>
        <p:spPr>
          <a:xfrm>
            <a:off x="8321040" y="1783080"/>
            <a:ext cx="3558240" cy="3547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Ver el dashboard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Obtener los gráficos de ventas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Obtener una respuesta de la IA referente a los feedbacks por su estado, POSITIVE, NEGATIVE o NEUTRAL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LLM local para consultas, READ ONLY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1200" spc="-1" strike="noStrike">
                <a:solidFill>
                  <a:schemeClr val="dk1"/>
                </a:solidFill>
                <a:latin typeface="Aptos"/>
              </a:rPr>
              <a:t>Probar chat OpenIA con memoria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14"/>
          <p:cNvSpPr/>
          <p:nvPr/>
        </p:nvSpPr>
        <p:spPr>
          <a:xfrm>
            <a:off x="9372600" y="188964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ADMIN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Rounded Rectangle 8"/>
          <p:cNvSpPr/>
          <p:nvPr/>
        </p:nvSpPr>
        <p:spPr>
          <a:xfrm>
            <a:off x="1082160" y="5532120"/>
            <a:ext cx="2278080" cy="383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</a:rPr>
              <a:t>CUSTOMER_REQUESTS.http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Rounded Rectangle 11"/>
          <p:cNvSpPr/>
          <p:nvPr/>
        </p:nvSpPr>
        <p:spPr>
          <a:xfrm>
            <a:off x="5010120" y="5532120"/>
            <a:ext cx="2278080" cy="383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Aptos"/>
              </a:rPr>
              <a:t>EMPLOYEE</a:t>
            </a:r>
            <a:r>
              <a:rPr b="0" lang="es-ES" sz="1200" spc="-1" strike="noStrike">
                <a:solidFill>
                  <a:schemeClr val="lt1"/>
                </a:solidFill>
                <a:latin typeface="Calibri"/>
              </a:rPr>
              <a:t> _REQUESTS.http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ounded Rectangle 14"/>
          <p:cNvSpPr/>
          <p:nvPr/>
        </p:nvSpPr>
        <p:spPr>
          <a:xfrm>
            <a:off x="8759160" y="5532120"/>
            <a:ext cx="2278080" cy="383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s-ES" sz="1300" spc="-1" strike="noStrike">
                <a:solidFill>
                  <a:srgbClr val="ffffff"/>
                </a:solidFill>
                <a:latin typeface="Aptos"/>
              </a:rPr>
              <a:t>ADMIN_REQUESTS.http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ounded Rectangle 1"/>
          <p:cNvSpPr/>
          <p:nvPr/>
        </p:nvSpPr>
        <p:spPr>
          <a:xfrm>
            <a:off x="5040000" y="6300000"/>
            <a:ext cx="2278080" cy="383760"/>
          </a:xfrm>
          <a:prstGeom prst="roundRect">
            <a:avLst>
              <a:gd name="adj" fmla="val 16667"/>
            </a:avLst>
          </a:prstGeom>
          <a:solidFill>
            <a:srgbClr val="c50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</a:rPr>
              <a:t>DEMO_R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</a:rPr>
              <a:t>EQUESTS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</a:rPr>
              <a:t>.http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2520000" y="5760000"/>
            <a:ext cx="2160000" cy="1260000"/>
          </a:xfrm>
          <a:custGeom>
            <a:avLst/>
            <a:gdLst>
              <a:gd name="textAreaLeft" fmla="*/ 0 w 2160000"/>
              <a:gd name="textAreaRight" fmla="*/ 2160360 w 2160000"/>
              <a:gd name="textAreaTop" fmla="*/ 0 h 1260000"/>
              <a:gd name="textAreaBottom" fmla="*/ 1260360 h 1260000"/>
            </a:gdLst>
            <a:ahLst/>
            <a:rect l="textAreaLeft" t="textAreaTop" r="textAreaRight" b="textAreaBottom"/>
            <a:pathLst>
              <a:path w="21600" h="21600">
                <a:moveTo>
                  <a:pt x="17263" y="7478"/>
                </a:moveTo>
                <a:arcTo wR="7267" hR="7267" stAng="-1632410" swAng="-3733475"/>
                <a:lnTo>
                  <a:pt x="10907" y="1"/>
                </a:lnTo>
                <a:arcTo wR="10800" hR="10800" stAng="-5365886" swAng="3733475"/>
                <a:lnTo>
                  <a:pt x="22806" y="4628"/>
                </a:lnTo>
                <a:lnTo>
                  <a:pt x="20876" y="10642"/>
                </a:lnTo>
                <a:lnTo>
                  <a:pt x="14861" y="871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 flipH="1">
            <a:off x="7740000" y="5760000"/>
            <a:ext cx="1800000" cy="1440000"/>
          </a:xfrm>
          <a:custGeom>
            <a:avLst/>
            <a:gdLst>
              <a:gd name="textAreaLeft" fmla="*/ 360 w 1800000"/>
              <a:gd name="textAreaRight" fmla="*/ 1800720 w 1800000"/>
              <a:gd name="textAreaTop" fmla="*/ 0 h 1440000"/>
              <a:gd name="textAreaBottom" fmla="*/ 1440000 h 1440000"/>
            </a:gdLst>
            <a:ahLst/>
            <a:rect l="textAreaLeft" t="textAreaTop" r="textAreaRight" b="textAreaBottom"/>
            <a:pathLst>
              <a:path w="21600" h="21600">
                <a:moveTo>
                  <a:pt x="17263" y="7478"/>
                </a:moveTo>
                <a:arcTo wR="7267" hR="7267" stAng="-1632410" swAng="-3733475"/>
                <a:lnTo>
                  <a:pt x="10907" y="1"/>
                </a:lnTo>
                <a:arcTo wR="10800" hR="10800" stAng="-5365886" swAng="3733475"/>
                <a:lnTo>
                  <a:pt x="22806" y="4628"/>
                </a:lnTo>
                <a:lnTo>
                  <a:pt x="20876" y="10642"/>
                </a:lnTo>
                <a:lnTo>
                  <a:pt x="14861" y="871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5940000" y="5940000"/>
            <a:ext cx="360000" cy="33084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761040" y="164520"/>
            <a:ext cx="122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11827"/>
                </a:solidFill>
                <a:latin typeface="Aptos"/>
              </a:rPr>
              <a:t>SMARTQR API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11531880" y="6400800"/>
            <a:ext cx="25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9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640080" y="594360"/>
            <a:ext cx="10789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2800" spc="-1" strike="noStrike">
                <a:solidFill>
                  <a:srgbClr val="111827"/>
                </a:solidFill>
                <a:latin typeface="Aptos Display"/>
              </a:rPr>
              <a:t>Mejoras futuras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ounded Rectangle 6"/>
          <p:cNvSpPr/>
          <p:nvPr/>
        </p:nvSpPr>
        <p:spPr>
          <a:xfrm>
            <a:off x="586800" y="1318680"/>
            <a:ext cx="7535880" cy="4404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TextBox 8"/>
          <p:cNvSpPr/>
          <p:nvPr/>
        </p:nvSpPr>
        <p:spPr>
          <a:xfrm>
            <a:off x="1120320" y="1602360"/>
            <a:ext cx="6598440" cy="38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Añadir un frontend para que el flujo se vea completo de cara al usuario.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Mejorar la estimación visual del tiempo de espera del pedido propio.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Ampliar el dashboard con más filtros e histórico de métricas.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475569"/>
                </a:solidFill>
                <a:latin typeface="Aptos"/>
              </a:rPr>
              <a:t>Reforzar tests y validaciones para cubrir mejor el flujo completo.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Rectangle 2"/>
          <p:cNvSpPr/>
          <p:nvPr/>
        </p:nvSpPr>
        <p:spPr>
          <a:xfrm>
            <a:off x="9235440" y="0"/>
            <a:ext cx="2955960" cy="1094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3" name="Imagen 4" descr=""/>
          <p:cNvPicPr/>
          <p:nvPr/>
        </p:nvPicPr>
        <p:blipFill>
          <a:blip r:embed="rId1"/>
          <a:stretch/>
        </p:blipFill>
        <p:spPr>
          <a:xfrm>
            <a:off x="0" y="104040"/>
            <a:ext cx="12191760" cy="6753600"/>
          </a:xfrm>
          <a:prstGeom prst="rect">
            <a:avLst/>
          </a:prstGeom>
          <a:ln w="0">
            <a:noFill/>
          </a:ln>
        </p:spPr>
      </p:pic>
      <p:pic>
        <p:nvPicPr>
          <p:cNvPr id="264" name="Imagen 6" descr=""/>
          <p:cNvPicPr/>
          <p:nvPr/>
        </p:nvPicPr>
        <p:blipFill>
          <a:blip r:embed="rId2"/>
          <a:stretch/>
        </p:blipFill>
        <p:spPr>
          <a:xfrm>
            <a:off x="11541600" y="6085800"/>
            <a:ext cx="507600" cy="50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Application>LibreOffice/24.2.7.2$Linux_X86_64 LibreOffice_project/420$Build-2</Application>
  <AppVersion>15.0000</AppVersion>
  <Words>789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2026-06-06T14:48:29Z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10</vt:i4>
  </property>
</Properties>
</file>