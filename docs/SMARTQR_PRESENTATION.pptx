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7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fcomanuelcandela90-dev/SmartQR_API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68964" y="43912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 dirty="0">
                <a:solidFill>
                  <a:srgbClr val="111827"/>
                </a:solidFill>
                <a:latin typeface="Aptos"/>
              </a:rPr>
              <a:t>SMART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58576" y="527304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336953" y="527304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15330" y="527304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258576" y="605681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15330" y="605681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258576" y="684058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36953" y="684058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15330" y="684058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2084" y="527304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50461" y="527304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28838" y="527304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72084" y="605681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28838" y="605681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72084" y="684058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50461" y="684058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728838" y="684058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58576" y="840812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336953" y="840812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15330" y="840812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58576" y="919189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15330" y="919189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258576" y="997566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336953" y="997566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15330" y="997566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93880" y="753834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572083" y="851263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50461" y="919189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728308" y="997566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572084" y="997566"/>
            <a:ext cx="78377" cy="7837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737394" y="719981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dirty="0">
                <a:solidFill>
                  <a:srgbClr val="111827"/>
                </a:solidFill>
                <a:latin typeface="Aptos"/>
              </a:rPr>
              <a:t>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828" y="1264881"/>
            <a:ext cx="6126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dirty="0">
                <a:solidFill>
                  <a:srgbClr val="64748B"/>
                </a:solidFill>
                <a:latin typeface="Aptos"/>
              </a:rPr>
              <a:t>Backend para </a:t>
            </a:r>
            <a:r>
              <a:rPr sz="1500" b="0" dirty="0" err="1">
                <a:solidFill>
                  <a:srgbClr val="64748B"/>
                </a:solidFill>
                <a:latin typeface="Aptos"/>
              </a:rPr>
              <a:t>flujo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 digital de </a:t>
            </a:r>
            <a:r>
              <a:rPr sz="1500" b="0" dirty="0" err="1">
                <a:solidFill>
                  <a:srgbClr val="64748B"/>
                </a:solidFill>
                <a:latin typeface="Aptos"/>
              </a:rPr>
              <a:t>restaurante</a:t>
            </a:r>
            <a:r>
              <a:rPr lang="es-ES" sz="1500" b="0" dirty="0">
                <a:solidFill>
                  <a:srgbClr val="64748B"/>
                </a:solidFill>
                <a:latin typeface="Aptos"/>
              </a:rPr>
              <a:t>s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77240" y="1828800"/>
            <a:ext cx="5623560" cy="22402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005840" y="2075688"/>
            <a:ext cx="132588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00" b="1" dirty="0">
                <a:solidFill>
                  <a:srgbClr val="FFFFFF"/>
                </a:solidFill>
                <a:latin typeface="Aptos"/>
              </a:rPr>
              <a:t>Descripción</a:t>
            </a:r>
            <a:endParaRPr sz="13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05840" y="2633472"/>
            <a:ext cx="507492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dirty="0">
                <a:solidFill>
                  <a:srgbClr val="111827"/>
                </a:solidFill>
                <a:latin typeface="Aptos"/>
              </a:rPr>
              <a:t>Proyecto Java</a:t>
            </a:r>
            <a:r>
              <a:rPr lang="es-ES" sz="1700" b="1" dirty="0">
                <a:solidFill>
                  <a:srgbClr val="111827"/>
                </a:solidFill>
                <a:latin typeface="Aptos"/>
              </a:rPr>
              <a:t> 25</a:t>
            </a:r>
            <a:r>
              <a:rPr sz="1700" b="1" dirty="0">
                <a:solidFill>
                  <a:srgbClr val="111827"/>
                </a:solidFill>
                <a:latin typeface="Aptos"/>
              </a:rPr>
              <a:t> Backend</a:t>
            </a:r>
            <a:r>
              <a:rPr lang="es-ES" sz="1700" b="1" dirty="0">
                <a:solidFill>
                  <a:srgbClr val="111827"/>
                </a:solidFill>
                <a:latin typeface="Aptos"/>
              </a:rPr>
              <a:t> para la digitalización de restaurantes</a:t>
            </a:r>
            <a:r>
              <a:rPr sz="1700" b="1" dirty="0">
                <a:solidFill>
                  <a:srgbClr val="111827"/>
                </a:solidFill>
                <a:latin typeface="Aptos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1550" b="0" dirty="0">
                <a:solidFill>
                  <a:srgbClr val="475569"/>
                </a:solidFill>
                <a:latin typeface="Aptos"/>
              </a:rPr>
              <a:t>API REST para </a:t>
            </a:r>
            <a:r>
              <a:rPr sz="1550" b="0" dirty="0" err="1">
                <a:solidFill>
                  <a:srgbClr val="475569"/>
                </a:solidFill>
                <a:latin typeface="Aptos"/>
              </a:rPr>
              <a:t>menú</a:t>
            </a:r>
            <a:r>
              <a:rPr sz="155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550" b="0" dirty="0" err="1">
                <a:solidFill>
                  <a:srgbClr val="475569"/>
                </a:solidFill>
                <a:latin typeface="Aptos"/>
              </a:rPr>
              <a:t>pedidos</a:t>
            </a:r>
            <a:r>
              <a:rPr sz="155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550" b="0" dirty="0" err="1">
                <a:solidFill>
                  <a:srgbClr val="475569"/>
                </a:solidFill>
                <a:latin typeface="Aptos"/>
              </a:rPr>
              <a:t>pagos</a:t>
            </a:r>
            <a:r>
              <a:rPr sz="155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550" b="0" dirty="0" err="1">
                <a:solidFill>
                  <a:srgbClr val="475569"/>
                </a:solidFill>
                <a:latin typeface="Aptos"/>
              </a:rPr>
              <a:t>cocina</a:t>
            </a:r>
            <a:endParaRPr sz="1550" b="0" dirty="0">
              <a:solidFill>
                <a:srgbClr val="475569"/>
              </a:solidFill>
              <a:latin typeface="Aptos"/>
            </a:endParaRPr>
          </a:p>
          <a:p>
            <a:pPr algn="l">
              <a:spcAft>
                <a:spcPts val="200"/>
              </a:spcAft>
            </a:pPr>
            <a:r>
              <a:rPr sz="1550" b="0" dirty="0">
                <a:solidFill>
                  <a:srgbClr val="475569"/>
                </a:solidFill>
                <a:latin typeface="Aptos"/>
              </a:rPr>
              <a:t>y </a:t>
            </a:r>
            <a:r>
              <a:rPr sz="1550" b="0" dirty="0" err="1">
                <a:solidFill>
                  <a:srgbClr val="475569"/>
                </a:solidFill>
                <a:latin typeface="Aptos"/>
              </a:rPr>
              <a:t>administración</a:t>
            </a:r>
            <a:r>
              <a:rPr sz="155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550" b="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550" b="0" dirty="0">
                <a:solidFill>
                  <a:srgbClr val="475569"/>
                </a:solidFill>
                <a:latin typeface="Aptos"/>
              </a:rPr>
              <a:t> un </a:t>
            </a:r>
            <a:r>
              <a:rPr sz="1550" b="0" dirty="0" err="1">
                <a:solidFill>
                  <a:srgbClr val="475569"/>
                </a:solidFill>
                <a:latin typeface="Aptos"/>
              </a:rPr>
              <a:t>restaurante</a:t>
            </a:r>
            <a:r>
              <a:rPr sz="1550" b="0" dirty="0">
                <a:solidFill>
                  <a:srgbClr val="475569"/>
                </a:solidFill>
                <a:latin typeface="Aptos"/>
              </a:rPr>
              <a:t>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1828800"/>
            <a:ext cx="4800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812280" y="2075688"/>
            <a:ext cx="201168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Enfoque del proyecto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2633472"/>
            <a:ext cx="4160520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lang="es-ES" sz="1550" b="1" dirty="0">
                <a:solidFill>
                  <a:srgbClr val="111827"/>
                </a:solidFill>
                <a:latin typeface="Aptos"/>
              </a:rPr>
              <a:t>Desarrollado</a:t>
            </a:r>
            <a:r>
              <a:rPr sz="1550" b="1" dirty="0">
                <a:solidFill>
                  <a:srgbClr val="111827"/>
                </a:solidFill>
                <a:latin typeface="Aptos"/>
              </a:rPr>
              <a:t> </a:t>
            </a:r>
            <a:r>
              <a:rPr sz="1550" b="1" dirty="0" err="1">
                <a:solidFill>
                  <a:srgbClr val="111827"/>
                </a:solidFill>
                <a:latin typeface="Aptos"/>
              </a:rPr>
              <a:t>como</a:t>
            </a:r>
            <a:r>
              <a:rPr sz="1550" b="1" dirty="0">
                <a:solidFill>
                  <a:srgbClr val="111827"/>
                </a:solidFill>
                <a:latin typeface="Aptos"/>
              </a:rPr>
              <a:t> </a:t>
            </a:r>
            <a:r>
              <a:rPr sz="1550" b="1" dirty="0" err="1">
                <a:solidFill>
                  <a:srgbClr val="111827"/>
                </a:solidFill>
                <a:latin typeface="Aptos"/>
              </a:rPr>
              <a:t>estudiante</a:t>
            </a:r>
            <a:r>
              <a:rPr sz="1550" b="1" dirty="0">
                <a:solidFill>
                  <a:srgbClr val="111827"/>
                </a:solidFill>
                <a:latin typeface="Aptos"/>
              </a:rPr>
              <a:t> de backend,</a:t>
            </a:r>
          </a:p>
          <a:p>
            <a:pPr algn="l">
              <a:spcAft>
                <a:spcPts val="200"/>
              </a:spcAft>
            </a:pPr>
            <a:r>
              <a:rPr sz="1450" b="0" dirty="0" err="1">
                <a:solidFill>
                  <a:srgbClr val="475569"/>
                </a:solidFill>
                <a:latin typeface="Aptos"/>
              </a:rPr>
              <a:t>centrado</a:t>
            </a:r>
            <a:r>
              <a:rPr sz="145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45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Aptos"/>
              </a:rPr>
              <a:t>seguridad</a:t>
            </a:r>
            <a:r>
              <a:rPr sz="145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450" b="0" dirty="0" err="1">
                <a:solidFill>
                  <a:srgbClr val="475569"/>
                </a:solidFill>
                <a:latin typeface="Aptos"/>
              </a:rPr>
              <a:t>flujo</a:t>
            </a:r>
            <a:r>
              <a:rPr sz="1450" b="0" dirty="0">
                <a:solidFill>
                  <a:srgbClr val="475569"/>
                </a:solidFill>
                <a:latin typeface="Aptos"/>
              </a:rPr>
              <a:t> y </a:t>
            </a:r>
            <a:r>
              <a:rPr sz="1450" b="0" dirty="0" err="1">
                <a:solidFill>
                  <a:srgbClr val="475569"/>
                </a:solidFill>
                <a:latin typeface="Aptos"/>
              </a:rPr>
              <a:t>práctica</a:t>
            </a:r>
            <a:r>
              <a:rPr sz="1450" b="0" dirty="0">
                <a:solidFill>
                  <a:srgbClr val="475569"/>
                </a:solidFill>
                <a:latin typeface="Aptos"/>
              </a:rPr>
              <a:t> real</a:t>
            </a:r>
            <a:r>
              <a:rPr lang="es-ES" sz="1450" b="0" dirty="0">
                <a:solidFill>
                  <a:srgbClr val="475569"/>
                </a:solidFill>
                <a:latin typeface="Aptos"/>
              </a:rPr>
              <a:t>, mediante </a:t>
            </a:r>
            <a:r>
              <a:rPr lang="es-ES" sz="1450" b="0" dirty="0" err="1">
                <a:solidFill>
                  <a:srgbClr val="475569"/>
                </a:solidFill>
                <a:latin typeface="Aptos"/>
              </a:rPr>
              <a:t>requests</a:t>
            </a:r>
            <a:r>
              <a:rPr sz="1450" b="0" dirty="0">
                <a:solidFill>
                  <a:srgbClr val="475569"/>
                </a:solidFill>
                <a:latin typeface="Aptos"/>
              </a:rPr>
              <a:t>.</a:t>
            </a:r>
            <a:r>
              <a:rPr lang="es-ES" sz="1450" b="0" dirty="0">
                <a:solidFill>
                  <a:srgbClr val="475569"/>
                </a:solidFill>
                <a:latin typeface="Aptos"/>
              </a:rPr>
              <a:t>http para la prueba en distintos roles.</a:t>
            </a:r>
            <a:endParaRPr sz="1450" b="0" dirty="0">
              <a:solidFill>
                <a:srgbClr val="475569"/>
              </a:solidFill>
              <a:latin typeface="Aptos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154783" y="4709160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Java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15487" y="4709160"/>
            <a:ext cx="1106424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Spring Boot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54160" y="4710954"/>
            <a:ext cx="13258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>
                <a:solidFill>
                  <a:srgbClr val="111827"/>
                </a:solidFill>
                <a:latin typeface="Aptos"/>
              </a:rPr>
              <a:t>Spring Security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47717" y="4700778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JWT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4693158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MySQL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72083" y="4695895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JPA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90006" y="4695895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Maven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877159" y="5120640"/>
            <a:ext cx="996696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Spring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020159" y="5120640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OpenAI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80863" y="5120640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Ollama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1567" y="5120640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MCP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02271" y="5120640"/>
            <a:ext cx="10515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JFreeChart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0135" y="5120640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ZXing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4160" y="5695188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 dirty="0">
                <a:solidFill>
                  <a:srgbClr val="111827"/>
                </a:solidFill>
                <a:latin typeface="Aptos"/>
              </a:rPr>
              <a:t>Francisco Manuel Candela </a:t>
            </a:r>
            <a:r>
              <a:rPr sz="1700" b="1" dirty="0" err="1">
                <a:solidFill>
                  <a:srgbClr val="111827"/>
                </a:solidFill>
                <a:latin typeface="Aptos"/>
              </a:rPr>
              <a:t>Manchón</a:t>
            </a:r>
            <a:endParaRPr sz="1700" b="1" dirty="0">
              <a:solidFill>
                <a:srgbClr val="111827"/>
              </a:solidFill>
              <a:latin typeface="Aptos"/>
            </a:endParaRPr>
          </a:p>
          <a:p>
            <a:pPr algn="ctr">
              <a:spcAft>
                <a:spcPts val="100"/>
              </a:spcAft>
            </a:pPr>
            <a:r>
              <a:rPr sz="1250" b="0" dirty="0" err="1">
                <a:solidFill>
                  <a:srgbClr val="64748B"/>
                </a:solidFill>
                <a:latin typeface="Aptos"/>
              </a:rPr>
              <a:t>Ironhack</a:t>
            </a:r>
            <a:r>
              <a:rPr sz="1250" b="0" dirty="0">
                <a:solidFill>
                  <a:srgbClr val="64748B"/>
                </a:solidFill>
                <a:latin typeface="Aptos"/>
              </a:rPr>
              <a:t> Java Backend Final Project</a:t>
            </a:r>
          </a:p>
        </p:txBody>
      </p:sp>
      <p:sp>
        <p:nvSpPr>
          <p:cNvPr id="58" name="Rectangle 31">
            <a:extLst>
              <a:ext uri="{FF2B5EF4-FFF2-40B4-BE49-F238E27FC236}">
                <a16:creationId xmlns:a16="http://schemas.microsoft.com/office/drawing/2014/main" id="{B0430D26-C927-B230-97E1-917091D1F413}"/>
              </a:ext>
            </a:extLst>
          </p:cNvPr>
          <p:cNvSpPr/>
          <p:nvPr/>
        </p:nvSpPr>
        <p:spPr>
          <a:xfrm>
            <a:off x="5728838" y="839940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31">
            <a:extLst>
              <a:ext uri="{FF2B5EF4-FFF2-40B4-BE49-F238E27FC236}">
                <a16:creationId xmlns:a16="http://schemas.microsoft.com/office/drawing/2014/main" id="{8EAFA37F-E983-7030-42E0-59A9EB39BC61}"/>
              </a:ext>
            </a:extLst>
          </p:cNvPr>
          <p:cNvSpPr/>
          <p:nvPr/>
        </p:nvSpPr>
        <p:spPr>
          <a:xfrm>
            <a:off x="5258576" y="758516"/>
            <a:ext cx="78377" cy="7837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12"/>
          <p:cNvSpPr/>
          <p:nvPr/>
        </p:nvSpPr>
        <p:spPr>
          <a:xfrm>
            <a:off x="5413047" y="6402324"/>
            <a:ext cx="1232472" cy="36271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 dirty="0">
                <a:solidFill>
                  <a:schemeClr val="bg1"/>
                </a:solidFill>
                <a:latin typeface="Apto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Enlace al </a:t>
            </a:r>
            <a:r>
              <a:rPr sz="800" b="1" dirty="0" err="1">
                <a:solidFill>
                  <a:schemeClr val="bg1"/>
                </a:solidFill>
                <a:latin typeface="Apto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repositorio</a:t>
            </a:r>
            <a:endParaRPr sz="800" b="1" dirty="0">
              <a:solidFill>
                <a:schemeClr val="bg1"/>
              </a:solidFill>
              <a:latin typeface="Aptos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4" name="Imagen 63">
            <a:extLst>
              <a:ext uri="{FF2B5EF4-FFF2-40B4-BE49-F238E27FC236}">
                <a16:creationId xmlns:a16="http://schemas.microsoft.com/office/drawing/2014/main" id="{5500D33A-68A9-4ECD-CF91-E9F661BCC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824" y="6388391"/>
            <a:ext cx="396317" cy="3963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Sobre mí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65760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664208"/>
            <a:ext cx="164592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Un poco sobre mí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2971800" cy="4321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endParaRPr sz="1700" b="1" dirty="0">
              <a:solidFill>
                <a:srgbClr val="111827"/>
              </a:solidFill>
              <a:latin typeface="Aptos"/>
            </a:endParaRPr>
          </a:p>
          <a:p>
            <a:pPr algn="l">
              <a:spcAft>
                <a:spcPts val="100"/>
              </a:spcAft>
            </a:pPr>
            <a:r>
              <a:rPr sz="1400" b="0" dirty="0">
                <a:solidFill>
                  <a:srgbClr val="475569"/>
                </a:solidFill>
                <a:latin typeface="Aptos"/>
              </a:rPr>
              <a:t>Soy de 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Crevillente</a:t>
            </a:r>
            <a:r>
              <a:rPr lang="es-ES" sz="1400" dirty="0">
                <a:solidFill>
                  <a:srgbClr val="475569"/>
                </a:solidFill>
                <a:latin typeface="Aptos"/>
              </a:rPr>
              <a:t> una localidad de la provincia de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Alicante,</a:t>
            </a:r>
          </a:p>
          <a:p>
            <a:pPr algn="l">
              <a:spcAft>
                <a:spcPts val="100"/>
              </a:spcAft>
            </a:pPr>
            <a:r>
              <a:rPr sz="1400" b="0" dirty="0">
                <a:solidFill>
                  <a:srgbClr val="475569"/>
                </a:solidFill>
                <a:latin typeface="Aptos"/>
              </a:rPr>
              <a:t>y a</a:t>
            </a:r>
            <a:r>
              <a:rPr lang="es-ES" sz="1400" b="0" dirty="0" err="1">
                <a:solidFill>
                  <a:srgbClr val="475569"/>
                </a:solidFill>
                <a:latin typeface="Aptos"/>
              </a:rPr>
              <a:t>ctualmente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vivo 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Toledo capital.</a:t>
            </a:r>
          </a:p>
          <a:p>
            <a:pPr algn="l">
              <a:spcAft>
                <a:spcPts val="100"/>
              </a:spcAft>
            </a:pPr>
            <a:endParaRPr sz="1400" b="0" dirty="0">
              <a:solidFill>
                <a:srgbClr val="475569"/>
              </a:solidFill>
              <a:latin typeface="Aptos"/>
            </a:endParaRPr>
          </a:p>
          <a:p>
            <a:pPr algn="l">
              <a:spcAft>
                <a:spcPts val="100"/>
              </a:spcAft>
            </a:pPr>
            <a:r>
              <a:rPr sz="1400" b="0" dirty="0">
                <a:solidFill>
                  <a:srgbClr val="475569"/>
                </a:solidFill>
                <a:latin typeface="Aptos"/>
              </a:rPr>
              <a:t>Me 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interesa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mucho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la 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tecnología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y,</a:t>
            </a:r>
          </a:p>
          <a:p>
            <a:pPr algn="l">
              <a:spcAft>
                <a:spcPts val="100"/>
              </a:spcAft>
            </a:pPr>
            <a:r>
              <a:rPr sz="1400" b="0" dirty="0">
                <a:solidFill>
                  <a:srgbClr val="475569"/>
                </a:solidFill>
                <a:latin typeface="Aptos"/>
              </a:rPr>
              <a:t>fuera del 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ordenador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disfruto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del</a:t>
            </a:r>
          </a:p>
          <a:p>
            <a:pPr>
              <a:spcAft>
                <a:spcPts val="100"/>
              </a:spcAft>
            </a:pPr>
            <a:r>
              <a:rPr lang="es-ES" sz="1400" b="0" dirty="0">
                <a:solidFill>
                  <a:srgbClr val="475569"/>
                </a:solidFill>
                <a:latin typeface="Aptos"/>
              </a:rPr>
              <a:t>S</a:t>
            </a:r>
            <a:r>
              <a:rPr sz="1400" b="0" dirty="0" err="1">
                <a:solidFill>
                  <a:srgbClr val="475569"/>
                </a:solidFill>
                <a:latin typeface="Aptos"/>
              </a:rPr>
              <a:t>enderismo</a:t>
            </a:r>
            <a:r>
              <a:rPr lang="es-ES" sz="1400" b="0" dirty="0">
                <a:solidFill>
                  <a:srgbClr val="475569"/>
                </a:solidFill>
                <a:latin typeface="Aptos"/>
              </a:rPr>
              <a:t> con la compañía de mis perritas, y de vez en cuando hago alguna salida de</a:t>
            </a:r>
            <a:r>
              <a:rPr sz="1400" b="0" dirty="0">
                <a:solidFill>
                  <a:srgbClr val="475569"/>
                </a:solidFill>
                <a:latin typeface="Aptos"/>
              </a:rPr>
              <a:t> MTB.</a:t>
            </a:r>
            <a:r>
              <a:rPr lang="es-ES" sz="1400" b="0" dirty="0">
                <a:solidFill>
                  <a:srgbClr val="475569"/>
                </a:solidFill>
                <a:latin typeface="Aptos"/>
              </a:rPr>
              <a:t> </a:t>
            </a:r>
            <a:br>
              <a:rPr lang="es-ES" sz="1400" b="0" dirty="0">
                <a:solidFill>
                  <a:srgbClr val="475569"/>
                </a:solidFill>
                <a:latin typeface="Aptos"/>
              </a:rPr>
            </a:br>
            <a:br>
              <a:rPr lang="es-ES" sz="1400" b="0" dirty="0">
                <a:solidFill>
                  <a:srgbClr val="475569"/>
                </a:solidFill>
                <a:latin typeface="Aptos"/>
              </a:rPr>
            </a:br>
            <a:r>
              <a:rPr lang="es-ES" sz="1400" b="0" dirty="0">
                <a:solidFill>
                  <a:srgbClr val="475569"/>
                </a:solidFill>
                <a:latin typeface="Aptos"/>
              </a:rPr>
              <a:t>Estudiante de Java Back-</a:t>
            </a:r>
            <a:r>
              <a:rPr lang="es-ES" sz="1400" b="0" dirty="0" err="1">
                <a:solidFill>
                  <a:srgbClr val="475569"/>
                </a:solidFill>
                <a:latin typeface="Aptos"/>
              </a:rPr>
              <a:t>end</a:t>
            </a:r>
            <a:r>
              <a:rPr lang="es-ES" sz="1400" b="0" dirty="0">
                <a:solidFill>
                  <a:srgbClr val="475569"/>
                </a:solidFill>
                <a:latin typeface="Aptos"/>
              </a:rPr>
              <a:t>, todavía con muchas cosas por aprender .</a:t>
            </a:r>
          </a:p>
          <a:p>
            <a:pPr>
              <a:spcAft>
                <a:spcPts val="100"/>
              </a:spcAft>
            </a:pPr>
            <a:r>
              <a:rPr lang="es-ES" sz="1400" dirty="0">
                <a:solidFill>
                  <a:srgbClr val="475569"/>
                </a:solidFill>
                <a:latin typeface="Aptos"/>
              </a:rPr>
              <a:t>Y con ganas de seguir formándome en el sector, con la futura trayectoria de aprende Front-</a:t>
            </a:r>
            <a:r>
              <a:rPr lang="es-ES" sz="1400" dirty="0" err="1">
                <a:solidFill>
                  <a:srgbClr val="475569"/>
                </a:solidFill>
                <a:latin typeface="Aptos"/>
              </a:rPr>
              <a:t>end</a:t>
            </a:r>
            <a:r>
              <a:rPr lang="es-ES" sz="1400" dirty="0">
                <a:solidFill>
                  <a:srgbClr val="475569"/>
                </a:solidFill>
                <a:latin typeface="Aptos"/>
              </a:rPr>
              <a:t>.</a:t>
            </a:r>
            <a:br>
              <a:rPr lang="es-ES" sz="1400" b="0" dirty="0">
                <a:solidFill>
                  <a:srgbClr val="475569"/>
                </a:solidFill>
                <a:latin typeface="Aptos"/>
              </a:rPr>
            </a:br>
            <a:endParaRPr sz="1400" b="0" dirty="0">
              <a:solidFill>
                <a:srgbClr val="475569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709160" y="1417320"/>
            <a:ext cx="315468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937760" y="1664208"/>
            <a:ext cx="141732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Crevillente</a:t>
            </a:r>
          </a:p>
        </p:txBody>
      </p:sp>
      <p:pic>
        <p:nvPicPr>
          <p:cNvPr id="12" name="Picture 11" descr="crevillente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148840"/>
            <a:ext cx="2743200" cy="1965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83480" y="44348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11827"/>
                </a:solidFill>
                <a:latin typeface="Aptos"/>
              </a:rPr>
              <a:t>Mi punto de partida.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75569"/>
                </a:solidFill>
                <a:latin typeface="Aptos"/>
              </a:rPr>
              <a:t>Cerca de la sierra y la naturaleza.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17320"/>
            <a:ext cx="315468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58200" y="1664208"/>
            <a:ext cx="123444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Toledo</a:t>
            </a:r>
          </a:p>
        </p:txBody>
      </p:sp>
      <p:pic>
        <p:nvPicPr>
          <p:cNvPr id="16" name="Picture 15" descr="toledo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148840"/>
            <a:ext cx="2743200" cy="1965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03920" y="44348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11827"/>
                </a:solidFill>
                <a:latin typeface="Aptos"/>
              </a:rPr>
              <a:t>Donde sigo formándome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75569"/>
                </a:solidFill>
                <a:latin typeface="Aptos"/>
              </a:rPr>
              <a:t>y preparando mi camino.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De una carta QR a un flujo completo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39496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755648"/>
            <a:ext cx="1234440" cy="38404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12848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0">
                <a:solidFill>
                  <a:srgbClr val="475569"/>
                </a:solidFill>
                <a:latin typeface="Aptos"/>
              </a:rPr>
              <a:t>En muchos restaurantes, el QR solo abre una carta en PDF.</a:t>
            </a:r>
          </a:p>
          <a:p>
            <a:pPr algn="l">
              <a:spcAft>
                <a:spcPts val="100"/>
              </a:spcAft>
            </a:pPr>
            <a:r>
              <a:rPr sz="1450" b="0">
                <a:solidFill>
                  <a:srgbClr val="475569"/>
                </a:solidFill>
                <a:latin typeface="Aptos"/>
              </a:rPr>
              <a:t>El pedido y la gestión siguen siendo manuales.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46520" y="1755648"/>
            <a:ext cx="1234440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La solución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0">
                <a:solidFill>
                  <a:srgbClr val="475569"/>
                </a:solidFill>
                <a:latin typeface="Aptos"/>
              </a:rPr>
              <a:t>SmartQR lleva esa idea un paso más allá.</a:t>
            </a:r>
          </a:p>
          <a:p>
            <a:pPr algn="l">
              <a:spcAft>
                <a:spcPts val="100"/>
              </a:spcAft>
            </a:pPr>
            <a:r>
              <a:rPr sz="1450" b="0">
                <a:solidFill>
                  <a:srgbClr val="475569"/>
                </a:solidFill>
                <a:latin typeface="Aptos"/>
              </a:rPr>
              <a:t>Conecta menú, pedido, pago, cocina y administración.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297680"/>
            <a:ext cx="15087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" y="45079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Aptos"/>
              </a:rPr>
              <a:t>QR / Menú</a:t>
            </a:r>
          </a:p>
        </p:txBody>
      </p:sp>
      <p:sp>
        <p:nvSpPr>
          <p:cNvPr id="15" name="Chevron 14"/>
          <p:cNvSpPr/>
          <p:nvPr/>
        </p:nvSpPr>
        <p:spPr>
          <a:xfrm>
            <a:off x="2478024" y="4507992"/>
            <a:ext cx="256032" cy="256032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108960" y="4297680"/>
            <a:ext cx="15087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82112" y="45079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Aptos"/>
              </a:rPr>
              <a:t>Pedido</a:t>
            </a:r>
          </a:p>
        </p:txBody>
      </p:sp>
      <p:sp>
        <p:nvSpPr>
          <p:cNvPr id="18" name="Chevron 17"/>
          <p:cNvSpPr/>
          <p:nvPr/>
        </p:nvSpPr>
        <p:spPr>
          <a:xfrm>
            <a:off x="4718304" y="4507992"/>
            <a:ext cx="256032" cy="256032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349240" y="4297680"/>
            <a:ext cx="15087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22392" y="45079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Aptos"/>
              </a:rPr>
              <a:t>Pago</a:t>
            </a:r>
          </a:p>
        </p:txBody>
      </p:sp>
      <p:sp>
        <p:nvSpPr>
          <p:cNvPr id="21" name="Chevron 20"/>
          <p:cNvSpPr/>
          <p:nvPr/>
        </p:nvSpPr>
        <p:spPr>
          <a:xfrm>
            <a:off x="6958584" y="4507992"/>
            <a:ext cx="256032" cy="256032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589520" y="4297680"/>
            <a:ext cx="15087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62672" y="45079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Aptos"/>
              </a:rPr>
              <a:t>Cocina</a:t>
            </a:r>
          </a:p>
        </p:txBody>
      </p:sp>
      <p:sp>
        <p:nvSpPr>
          <p:cNvPr id="24" name="Chevron 23"/>
          <p:cNvSpPr/>
          <p:nvPr/>
        </p:nvSpPr>
        <p:spPr>
          <a:xfrm>
            <a:off x="9198864" y="4507992"/>
            <a:ext cx="256032" cy="256032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829800" y="4297680"/>
            <a:ext cx="15087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902952" y="45079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Aptos"/>
              </a:rPr>
              <a:t>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Tres perfiles, tres responsabilidades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46120" cy="3246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901952"/>
            <a:ext cx="114300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CUSTOMER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2697480" cy="992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20" b="0" dirty="0">
                <a:solidFill>
                  <a:srgbClr val="475569"/>
                </a:solidFill>
                <a:latin typeface="Aptos"/>
              </a:rPr>
              <a:t>Carta, </a:t>
            </a:r>
            <a:r>
              <a:rPr sz="1420" b="0" dirty="0" err="1">
                <a:solidFill>
                  <a:srgbClr val="475569"/>
                </a:solidFill>
                <a:latin typeface="Aptos"/>
              </a:rPr>
              <a:t>pedidos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 y </a:t>
            </a:r>
            <a:r>
              <a:rPr sz="1420" b="0" dirty="0" err="1">
                <a:solidFill>
                  <a:srgbClr val="475569"/>
                </a:solidFill>
                <a:latin typeface="Aptos"/>
              </a:rPr>
              <a:t>pagos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.</a:t>
            </a:r>
          </a:p>
          <a:p>
            <a:pPr algn="l">
              <a:spcAft>
                <a:spcPts val="100"/>
              </a:spcAft>
            </a:pPr>
            <a:r>
              <a:rPr sz="1420" b="0" dirty="0">
                <a:solidFill>
                  <a:srgbClr val="475569"/>
                </a:solidFill>
                <a:latin typeface="Aptos"/>
              </a:rPr>
              <a:t>Estado de </a:t>
            </a:r>
            <a:r>
              <a:rPr sz="1420" b="0" dirty="0" err="1">
                <a:solidFill>
                  <a:srgbClr val="475569"/>
                </a:solidFill>
                <a:latin typeface="Aptos"/>
              </a:rPr>
              <a:t>pedido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, ticket,</a:t>
            </a:r>
          </a:p>
          <a:p>
            <a:pPr algn="l">
              <a:spcAft>
                <a:spcPts val="100"/>
              </a:spcAft>
            </a:pPr>
            <a:r>
              <a:rPr sz="1420" b="0" dirty="0">
                <a:solidFill>
                  <a:srgbClr val="475569"/>
                </a:solidFill>
                <a:latin typeface="Aptos"/>
              </a:rPr>
              <a:t>feedback y combo</a:t>
            </a:r>
            <a:r>
              <a:rPr lang="es-ES" sz="1420" b="0" dirty="0">
                <a:solidFill>
                  <a:srgbClr val="475569"/>
                </a:solidFill>
                <a:latin typeface="Aptos"/>
              </a:rPr>
              <a:t>s generados  por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 IA</a:t>
            </a:r>
            <a:r>
              <a:rPr lang="es-ES" sz="1420" b="0" dirty="0">
                <a:solidFill>
                  <a:srgbClr val="475569"/>
                </a:solidFill>
                <a:latin typeface="Aptos"/>
              </a:rPr>
              <a:t> a petición del cliente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3246120" cy="3246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0" y="1901952"/>
            <a:ext cx="114300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EMPLOYEE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2697480" cy="992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lang="es-ES" sz="1420" b="0" dirty="0">
                <a:solidFill>
                  <a:srgbClr val="475569"/>
                </a:solidFill>
                <a:latin typeface="Aptos"/>
              </a:rPr>
              <a:t>Crear un 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QR de mesa.</a:t>
            </a:r>
          </a:p>
          <a:p>
            <a:pPr algn="l">
              <a:spcAft>
                <a:spcPts val="100"/>
              </a:spcAft>
            </a:pPr>
            <a:r>
              <a:rPr lang="es-ES" sz="1420" b="0" dirty="0">
                <a:solidFill>
                  <a:srgbClr val="475569"/>
                </a:solidFill>
                <a:latin typeface="Aptos"/>
              </a:rPr>
              <a:t>Ver la c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ola de </a:t>
            </a:r>
            <a:r>
              <a:rPr sz="1420" b="0" dirty="0" err="1">
                <a:solidFill>
                  <a:srgbClr val="475569"/>
                </a:solidFill>
                <a:latin typeface="Aptos"/>
              </a:rPr>
              <a:t>cocina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, </a:t>
            </a:r>
            <a:r>
              <a:rPr sz="1420" b="0" dirty="0" err="1">
                <a:solidFill>
                  <a:srgbClr val="475569"/>
                </a:solidFill>
                <a:latin typeface="Aptos"/>
              </a:rPr>
              <a:t>estados</a:t>
            </a:r>
            <a:r>
              <a:rPr lang="es-ES" sz="1420" b="0" dirty="0">
                <a:solidFill>
                  <a:srgbClr val="475569"/>
                </a:solidFill>
                <a:latin typeface="Aptos"/>
              </a:rPr>
              <a:t> de pedido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 y</a:t>
            </a:r>
            <a:r>
              <a:rPr lang="es-ES" sz="1420" b="0" dirty="0">
                <a:solidFill>
                  <a:srgbClr val="475569"/>
                </a:solidFill>
                <a:latin typeface="Aptos"/>
              </a:rPr>
              <a:t> validar los</a:t>
            </a:r>
            <a:endParaRPr sz="1420" b="0" dirty="0">
              <a:solidFill>
                <a:srgbClr val="475569"/>
              </a:solidFill>
              <a:latin typeface="Aptos"/>
            </a:endParaRPr>
          </a:p>
          <a:p>
            <a:pPr algn="l">
              <a:spcAft>
                <a:spcPts val="100"/>
              </a:spcAft>
            </a:pPr>
            <a:r>
              <a:rPr sz="1420" b="0" dirty="0" err="1">
                <a:solidFill>
                  <a:srgbClr val="475569"/>
                </a:solidFill>
                <a:latin typeface="Aptos"/>
              </a:rPr>
              <a:t>pagos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420" b="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420" b="0" dirty="0" err="1">
                <a:solidFill>
                  <a:srgbClr val="475569"/>
                </a:solidFill>
                <a:latin typeface="Aptos"/>
              </a:rPr>
              <a:t>efectivo</a:t>
            </a:r>
            <a:r>
              <a:rPr sz="1420" b="0" dirty="0">
                <a:solidFill>
                  <a:srgbClr val="475569"/>
                </a:solidFill>
                <a:latin typeface="Aptos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645920"/>
            <a:ext cx="3246120" cy="3246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49640" y="1901952"/>
            <a:ext cx="1143000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514600"/>
            <a:ext cx="2697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20" b="0">
                <a:solidFill>
                  <a:srgbClr val="475569"/>
                </a:solidFill>
                <a:latin typeface="Aptos"/>
              </a:rPr>
              <a:t>Gestión de productos.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475569"/>
                </a:solidFill>
                <a:latin typeface="Aptos"/>
              </a:rPr>
              <a:t>Métricas, gráficos y</a:t>
            </a:r>
          </a:p>
          <a:p>
            <a:pPr algn="l">
              <a:spcAft>
                <a:spcPts val="100"/>
              </a:spcAft>
            </a:pPr>
            <a:r>
              <a:rPr sz="1420" b="0">
                <a:solidFill>
                  <a:srgbClr val="475569"/>
                </a:solidFill>
                <a:latin typeface="Aptos"/>
              </a:rPr>
              <a:t>agente local con 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8760" y="5349240"/>
            <a:ext cx="9144000" cy="71323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>
                <a:solidFill>
                  <a:srgbClr val="64748B"/>
                </a:solidFill>
                <a:latin typeface="Aptos"/>
              </a:rPr>
              <a:t>La demo recorre el flujo por perfiles: primero cliente, después empleado y por último administrador.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Arquitectura y seguridad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2834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847088"/>
            <a:ext cx="173736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Capas del proyecto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2359152"/>
            <a:ext cx="12801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Controller</a:t>
            </a:r>
          </a:p>
        </p:txBody>
      </p:sp>
      <p:sp>
        <p:nvSpPr>
          <p:cNvPr id="10" name="Chevron 9"/>
          <p:cNvSpPr/>
          <p:nvPr/>
        </p:nvSpPr>
        <p:spPr>
          <a:xfrm rot="5400000">
            <a:off x="2011680" y="2761488"/>
            <a:ext cx="256032" cy="146304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499616" y="2999232"/>
            <a:ext cx="12801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DTO</a:t>
            </a:r>
          </a:p>
        </p:txBody>
      </p:sp>
      <p:sp>
        <p:nvSpPr>
          <p:cNvPr id="12" name="Chevron 11"/>
          <p:cNvSpPr/>
          <p:nvPr/>
        </p:nvSpPr>
        <p:spPr>
          <a:xfrm rot="5400000">
            <a:off x="2011680" y="3409188"/>
            <a:ext cx="256032" cy="146304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99616" y="3657600"/>
            <a:ext cx="12801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111827"/>
                </a:solidFill>
                <a:latin typeface="Aptos"/>
              </a:rPr>
              <a:t>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08760" y="4311396"/>
            <a:ext cx="12801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Repository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99616" y="4969764"/>
            <a:ext cx="12801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Entity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5631180"/>
            <a:ext cx="12801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MySQL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7620" y="1600200"/>
            <a:ext cx="76352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069080" y="1847088"/>
            <a:ext cx="114300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Seguridad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2331720"/>
            <a:ext cx="6858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50">
                <a:solidFill>
                  <a:srgbClr val="475569"/>
                </a:solidFill>
                <a:latin typeface="Aptos"/>
              </a:rPr>
              <a:t>• Spring Security con JWT</a:t>
            </a: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475569"/>
                </a:solidFill>
                <a:latin typeface="Aptos"/>
              </a:rPr>
              <a:t>• Roles: CUSTOMER, EMPLOYEE y ADMIN</a:t>
            </a: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475569"/>
                </a:solidFill>
                <a:latin typeface="Aptos"/>
              </a:rPr>
              <a:t>• Control de pedidos propios del cliente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4027932"/>
            <a:ext cx="685800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111827"/>
                </a:solidFill>
                <a:latin typeface="Aptos"/>
              </a:rPr>
              <a:t>No basta con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estar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autenticado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: también hay que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comprobar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 a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qué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datos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puede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 acceder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cada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11827"/>
                </a:solidFill>
                <a:latin typeface="Aptos"/>
              </a:rPr>
              <a:t>usuario</a:t>
            </a:r>
            <a:r>
              <a:rPr sz="1400" b="1" dirty="0">
                <a:solidFill>
                  <a:srgbClr val="111827"/>
                </a:solidFill>
                <a:latin typeface="Aptos"/>
              </a:rPr>
              <a:t>.</a:t>
            </a:r>
          </a:p>
        </p:txBody>
      </p:sp>
      <p:sp>
        <p:nvSpPr>
          <p:cNvPr id="24" name="Chevron 11">
            <a:extLst>
              <a:ext uri="{FF2B5EF4-FFF2-40B4-BE49-F238E27FC236}">
                <a16:creationId xmlns:a16="http://schemas.microsoft.com/office/drawing/2014/main" id="{E7FF19A1-D2CA-AAC0-CBC4-536C68114BE2}"/>
              </a:ext>
            </a:extLst>
          </p:cNvPr>
          <p:cNvSpPr/>
          <p:nvPr/>
        </p:nvSpPr>
        <p:spPr>
          <a:xfrm rot="5400000">
            <a:off x="2011680" y="4049268"/>
            <a:ext cx="256032" cy="146304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evron 11">
            <a:extLst>
              <a:ext uri="{FF2B5EF4-FFF2-40B4-BE49-F238E27FC236}">
                <a16:creationId xmlns:a16="http://schemas.microsoft.com/office/drawing/2014/main" id="{18979322-2078-7F54-3305-2EAC95696BF1}"/>
              </a:ext>
            </a:extLst>
          </p:cNvPr>
          <p:cNvSpPr/>
          <p:nvPr/>
        </p:nvSpPr>
        <p:spPr>
          <a:xfrm rot="5400000">
            <a:off x="2025396" y="4736592"/>
            <a:ext cx="256032" cy="146304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Chevron 11">
            <a:extLst>
              <a:ext uri="{FF2B5EF4-FFF2-40B4-BE49-F238E27FC236}">
                <a16:creationId xmlns:a16="http://schemas.microsoft.com/office/drawing/2014/main" id="{F74D1065-1A47-BA50-A15D-2447ACB3456E}"/>
              </a:ext>
            </a:extLst>
          </p:cNvPr>
          <p:cNvSpPr/>
          <p:nvPr/>
        </p:nvSpPr>
        <p:spPr>
          <a:xfrm rot="5400000">
            <a:off x="2011680" y="5388864"/>
            <a:ext cx="256032" cy="146304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Retos técnicos más importantes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3291840" cy="3520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41832" y="2029968"/>
            <a:ext cx="141732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Reto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5176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11827"/>
                </a:solidFill>
                <a:latin typeface="Aptos"/>
              </a:rPr>
              <a:t>Separar bien los flujos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475569"/>
                </a:solidFill>
                <a:latin typeface="Aptos"/>
              </a:rPr>
              <a:t>por perfil y ordenar las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475569"/>
                </a:solidFill>
                <a:latin typeface="Aptos"/>
              </a:rPr>
              <a:t>rutas para que todo tuviera sentido.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35424" y="1783080"/>
            <a:ext cx="3291840" cy="3520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64024" y="2029968"/>
            <a:ext cx="1417320" cy="38404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Reto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265176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11827"/>
                </a:solidFill>
                <a:latin typeface="Aptos"/>
              </a:rPr>
              <a:t>Combinar login con JWT,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475569"/>
                </a:solidFill>
                <a:latin typeface="Aptos"/>
              </a:rPr>
              <a:t>permisos por rol y control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475569"/>
                </a:solidFill>
                <a:latin typeface="Aptos"/>
              </a:rPr>
              <a:t>de pedidos propios.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5" y="1783080"/>
            <a:ext cx="3291840" cy="3520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86215" y="2029968"/>
            <a:ext cx="1783080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Cómo lo resolví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86215" y="2651760"/>
            <a:ext cx="2743200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>
                <a:solidFill>
                  <a:srgbClr val="111827"/>
                </a:solidFill>
                <a:latin typeface="Aptos"/>
              </a:rPr>
              <a:t>Rutas </a:t>
            </a:r>
            <a:r>
              <a:rPr sz="1600" b="1" dirty="0" err="1">
                <a:solidFill>
                  <a:srgbClr val="111827"/>
                </a:solidFill>
                <a:latin typeface="Aptos"/>
              </a:rPr>
              <a:t>protegidas</a:t>
            </a:r>
            <a:r>
              <a:rPr lang="es-ES" sz="1600" b="1" dirty="0">
                <a:solidFill>
                  <a:srgbClr val="111827"/>
                </a:solidFill>
                <a:latin typeface="Aptos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lang="es-ES" sz="1500" b="0" dirty="0">
                <a:solidFill>
                  <a:srgbClr val="475569"/>
                </a:solidFill>
                <a:latin typeface="Aptos"/>
              </a:rPr>
              <a:t>por rol y</a:t>
            </a:r>
            <a:r>
              <a:rPr sz="15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Aptos"/>
              </a:rPr>
              <a:t>servicios</a:t>
            </a:r>
            <a:r>
              <a:rPr sz="15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Aptos"/>
              </a:rPr>
              <a:t>validando</a:t>
            </a:r>
            <a:r>
              <a:rPr sz="15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Aptos"/>
              </a:rPr>
              <a:t>reglas</a:t>
            </a:r>
            <a:endParaRPr sz="1500" b="0" dirty="0">
              <a:solidFill>
                <a:srgbClr val="475569"/>
              </a:solidFill>
              <a:latin typeface="Aptos"/>
            </a:endParaRPr>
          </a:p>
          <a:p>
            <a:pPr algn="l">
              <a:spcAft>
                <a:spcPts val="200"/>
              </a:spcAft>
            </a:pPr>
            <a:r>
              <a:rPr sz="1500" b="0" dirty="0">
                <a:solidFill>
                  <a:srgbClr val="475569"/>
                </a:solidFill>
                <a:latin typeface="Aptos"/>
              </a:rPr>
              <a:t>de </a:t>
            </a:r>
            <a:r>
              <a:rPr sz="1500" b="0" dirty="0" err="1">
                <a:solidFill>
                  <a:srgbClr val="475569"/>
                </a:solidFill>
                <a:latin typeface="Aptos"/>
              </a:rPr>
              <a:t>negocio</a:t>
            </a:r>
            <a:r>
              <a:rPr sz="1500" b="0" dirty="0">
                <a:solidFill>
                  <a:srgbClr val="475569"/>
                </a:solidFill>
                <a:latin typeface="Aptos"/>
              </a:rPr>
              <a:t> antes de </a:t>
            </a:r>
            <a:r>
              <a:rPr sz="1500" b="0" dirty="0" err="1">
                <a:solidFill>
                  <a:srgbClr val="475569"/>
                </a:solidFill>
                <a:latin typeface="Aptos"/>
              </a:rPr>
              <a:t>tocar</a:t>
            </a:r>
            <a:r>
              <a:rPr sz="1500" b="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Aptos"/>
              </a:rPr>
              <a:t>datos</a:t>
            </a:r>
            <a:r>
              <a:rPr sz="1500" b="0" dirty="0">
                <a:solidFill>
                  <a:srgbClr val="475569"/>
                </a:solidFill>
                <a:latin typeface="Aptos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5559552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JWT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5559552"/>
            <a:ext cx="9144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Roles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5559552"/>
            <a:ext cx="996696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Ownership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5559552"/>
            <a:ext cx="996696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Servicios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5559552"/>
            <a:ext cx="1161288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11827"/>
                </a:solidFill>
                <a:latin typeface="Aptos"/>
              </a:rPr>
              <a:t>Validaciones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Errores y aprendizaje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074920" cy="3794760"/>
          </a:xfrm>
          <a:prstGeom prst="roundRect">
            <a:avLst/>
          </a:prstGeom>
          <a:solidFill>
            <a:srgbClr val="FEF2F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029968"/>
            <a:ext cx="1417320" cy="38404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4434840" cy="2268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40" dirty="0">
                <a:solidFill>
                  <a:srgbClr val="475569"/>
                </a:solidFill>
                <a:latin typeface="Aptos"/>
              </a:rPr>
              <a:t>•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Confiar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demasiado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tener</a:t>
            </a:r>
            <a:r>
              <a:rPr sz="1340" dirty="0">
                <a:solidFill>
                  <a:srgbClr val="475569"/>
                </a:solidFill>
                <a:latin typeface="Aptos"/>
              </a:rPr>
              <a:t> login con JWT y no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revisar</a:t>
            </a:r>
            <a:r>
              <a:rPr sz="1340" dirty="0">
                <a:solidFill>
                  <a:srgbClr val="475569"/>
                </a:solidFill>
                <a:latin typeface="Aptos"/>
              </a:rPr>
              <a:t> bien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el</a:t>
            </a:r>
            <a:r>
              <a:rPr sz="1340" dirty="0">
                <a:solidFill>
                  <a:srgbClr val="475569"/>
                </a:solidFill>
                <a:latin typeface="Aptos"/>
              </a:rPr>
              <a:t> ownership al principio.</a:t>
            </a:r>
            <a:endParaRPr lang="es-ES"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endParaRPr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r>
              <a:rPr sz="1340" dirty="0">
                <a:solidFill>
                  <a:srgbClr val="475569"/>
                </a:solidFill>
                <a:latin typeface="Aptos"/>
              </a:rPr>
              <a:t>•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Dejar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algunas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validaciones</a:t>
            </a:r>
            <a:r>
              <a:rPr sz="1340" dirty="0">
                <a:solidFill>
                  <a:srgbClr val="475569"/>
                </a:solidFill>
                <a:latin typeface="Aptos"/>
              </a:rPr>
              <a:t> del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flujo</a:t>
            </a:r>
            <a:r>
              <a:rPr sz="1340" dirty="0">
                <a:solidFill>
                  <a:srgbClr val="475569"/>
                </a:solidFill>
                <a:latin typeface="Aptos"/>
              </a:rPr>
              <a:t> para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demasiado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tarde</a:t>
            </a:r>
            <a:r>
              <a:rPr sz="1340" dirty="0">
                <a:solidFill>
                  <a:srgbClr val="475569"/>
                </a:solidFill>
                <a:latin typeface="Aptos"/>
              </a:rPr>
              <a:t>,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ya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fase</a:t>
            </a:r>
            <a:r>
              <a:rPr sz="1340" dirty="0">
                <a:solidFill>
                  <a:srgbClr val="475569"/>
                </a:solidFill>
                <a:latin typeface="Aptos"/>
              </a:rPr>
              <a:t> de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pruebas</a:t>
            </a:r>
            <a:r>
              <a:rPr sz="1340" dirty="0">
                <a:solidFill>
                  <a:srgbClr val="475569"/>
                </a:solidFill>
                <a:latin typeface="Aptos"/>
              </a:rPr>
              <a:t>.</a:t>
            </a:r>
            <a:endParaRPr lang="es-ES"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endParaRPr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r>
              <a:rPr sz="1340" dirty="0">
                <a:solidFill>
                  <a:srgbClr val="475569"/>
                </a:solidFill>
                <a:latin typeface="Aptos"/>
              </a:rPr>
              <a:t>•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Intentar</a:t>
            </a:r>
            <a:r>
              <a:rPr sz="1340" dirty="0">
                <a:solidFill>
                  <a:srgbClr val="475569"/>
                </a:solidFill>
                <a:latin typeface="Aptos"/>
              </a:rPr>
              <a:t> meter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varias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cosas</a:t>
            </a:r>
            <a:r>
              <a:rPr sz="1340" dirty="0">
                <a:solidFill>
                  <a:srgbClr val="475569"/>
                </a:solidFill>
                <a:latin typeface="Aptos"/>
              </a:rPr>
              <a:t> a la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vez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lugar</a:t>
            </a:r>
            <a:r>
              <a:rPr sz="1340" dirty="0">
                <a:solidFill>
                  <a:srgbClr val="475569"/>
                </a:solidFill>
                <a:latin typeface="Aptos"/>
              </a:rPr>
              <a:t> de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cerrar</a:t>
            </a:r>
            <a:r>
              <a:rPr sz="1340" dirty="0">
                <a:solidFill>
                  <a:srgbClr val="475569"/>
                </a:solidFill>
                <a:latin typeface="Aptos"/>
              </a:rPr>
              <a:t> antes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el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flujo</a:t>
            </a:r>
            <a:r>
              <a:rPr sz="1340" dirty="0">
                <a:solidFill>
                  <a:srgbClr val="475569"/>
                </a:solidFill>
                <a:latin typeface="Aptos"/>
              </a:rPr>
              <a:t> base.</a:t>
            </a:r>
            <a:endParaRPr lang="es-ES"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endParaRPr sz="1340" dirty="0">
              <a:solidFill>
                <a:srgbClr val="475569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355080" y="1783080"/>
            <a:ext cx="5074920" cy="379476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0" y="2029968"/>
            <a:ext cx="1600200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Qué aprendí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4434840" cy="2268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40" dirty="0">
                <a:solidFill>
                  <a:srgbClr val="475569"/>
                </a:solidFill>
                <a:latin typeface="Aptos"/>
              </a:rPr>
              <a:t>• La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seguridad</a:t>
            </a:r>
            <a:r>
              <a:rPr sz="1340" dirty="0">
                <a:solidFill>
                  <a:srgbClr val="475569"/>
                </a:solidFill>
                <a:latin typeface="Aptos"/>
              </a:rPr>
              <a:t> no es solo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autenticación</a:t>
            </a:r>
            <a:r>
              <a:rPr sz="1340" dirty="0">
                <a:solidFill>
                  <a:srgbClr val="475569"/>
                </a:solidFill>
                <a:latin typeface="Aptos"/>
              </a:rPr>
              <a:t>: también es control de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acceso</a:t>
            </a:r>
            <a:r>
              <a:rPr sz="1340" dirty="0">
                <a:solidFill>
                  <a:srgbClr val="475569"/>
                </a:solidFill>
                <a:latin typeface="Aptos"/>
              </a:rPr>
              <a:t> a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datos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reales</a:t>
            </a:r>
            <a:r>
              <a:rPr sz="1340" dirty="0">
                <a:solidFill>
                  <a:srgbClr val="475569"/>
                </a:solidFill>
                <a:latin typeface="Aptos"/>
              </a:rPr>
              <a:t>.</a:t>
            </a:r>
            <a:endParaRPr lang="es-ES"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endParaRPr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r>
              <a:rPr sz="1340" dirty="0">
                <a:solidFill>
                  <a:srgbClr val="475569"/>
                </a:solidFill>
                <a:latin typeface="Aptos"/>
              </a:rPr>
              <a:t>• El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flujo</a:t>
            </a:r>
            <a:r>
              <a:rPr sz="1340" dirty="0">
                <a:solidFill>
                  <a:srgbClr val="475569"/>
                </a:solidFill>
                <a:latin typeface="Aptos"/>
              </a:rPr>
              <a:t> principal hay que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probarlo</a:t>
            </a:r>
            <a:r>
              <a:rPr sz="1340" dirty="0">
                <a:solidFill>
                  <a:srgbClr val="475569"/>
                </a:solidFill>
                <a:latin typeface="Aptos"/>
              </a:rPr>
              <a:t> pronto,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aunque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todavía</a:t>
            </a:r>
            <a:r>
              <a:rPr sz="1340" dirty="0">
                <a:solidFill>
                  <a:srgbClr val="475569"/>
                </a:solidFill>
                <a:latin typeface="Aptos"/>
              </a:rPr>
              <a:t> no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esté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todo</a:t>
            </a:r>
            <a:r>
              <a:rPr sz="1340" dirty="0">
                <a:solidFill>
                  <a:srgbClr val="475569"/>
                </a:solidFill>
                <a:latin typeface="Aptos"/>
              </a:rPr>
              <a:t> perfecto.</a:t>
            </a:r>
            <a:endParaRPr lang="es-ES"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endParaRPr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r>
              <a:rPr sz="1340" dirty="0">
                <a:solidFill>
                  <a:srgbClr val="475569"/>
                </a:solidFill>
                <a:latin typeface="Aptos"/>
              </a:rPr>
              <a:t>• Como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estudiante</a:t>
            </a:r>
            <a:r>
              <a:rPr sz="1340" dirty="0">
                <a:solidFill>
                  <a:srgbClr val="475569"/>
                </a:solidFill>
                <a:latin typeface="Aptos"/>
              </a:rPr>
              <a:t> de backend, me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compensa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más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una</a:t>
            </a:r>
            <a:r>
              <a:rPr sz="1340" dirty="0">
                <a:solidFill>
                  <a:srgbClr val="475569"/>
                </a:solidFill>
                <a:latin typeface="Aptos"/>
              </a:rPr>
              <a:t> base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sólida</a:t>
            </a:r>
            <a:r>
              <a:rPr sz="1340" dirty="0">
                <a:solidFill>
                  <a:srgbClr val="475569"/>
                </a:solidFill>
                <a:latin typeface="Aptos"/>
              </a:rPr>
              <a:t> que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añadir</a:t>
            </a:r>
            <a:r>
              <a:rPr sz="1340" dirty="0">
                <a:solidFill>
                  <a:srgbClr val="475569"/>
                </a:solidFill>
                <a:latin typeface="Aptos"/>
              </a:rPr>
              <a:t> extras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demasiado</a:t>
            </a:r>
            <a:r>
              <a:rPr sz="1340" dirty="0">
                <a:solidFill>
                  <a:srgbClr val="475569"/>
                </a:solidFill>
                <a:latin typeface="Aptos"/>
              </a:rPr>
              <a:t> </a:t>
            </a:r>
            <a:r>
              <a:rPr sz="1340" dirty="0" err="1">
                <a:solidFill>
                  <a:srgbClr val="475569"/>
                </a:solidFill>
                <a:latin typeface="Aptos"/>
              </a:rPr>
              <a:t>rápido</a:t>
            </a:r>
            <a:r>
              <a:rPr sz="1340" dirty="0">
                <a:solidFill>
                  <a:srgbClr val="475569"/>
                </a:solidFill>
                <a:latin typeface="Aptos"/>
              </a:rPr>
              <a:t>.</a:t>
            </a:r>
            <a:endParaRPr lang="es-ES" sz="1340" dirty="0">
              <a:solidFill>
                <a:srgbClr val="475569"/>
              </a:solidFill>
              <a:latin typeface="Aptos"/>
            </a:endParaRPr>
          </a:p>
          <a:p>
            <a:pPr>
              <a:spcAft>
                <a:spcPts val="500"/>
              </a:spcAft>
            </a:pPr>
            <a:endParaRPr sz="1340" dirty="0">
              <a:solidFill>
                <a:srgbClr val="475569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Aptos Display"/>
              </a:rPr>
              <a:t>DEMO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4748B"/>
                </a:solidFill>
                <a:latin typeface="Aptos"/>
              </a:rPr>
              <a:t>Flujo principal de la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06103"/>
            <a:ext cx="585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lang="es-ES" sz="1400" b="0" dirty="0">
                <a:solidFill>
                  <a:srgbClr val="64748B"/>
                </a:solidFill>
                <a:latin typeface="Aptos"/>
              </a:rPr>
              <a:t>Entorno de ejecución en </a:t>
            </a:r>
            <a:r>
              <a:rPr lang="es-ES" sz="1400" b="0" dirty="0" err="1">
                <a:solidFill>
                  <a:srgbClr val="64748B"/>
                </a:solidFill>
                <a:latin typeface="Aptos"/>
              </a:rPr>
              <a:t>intelliJ</a:t>
            </a:r>
            <a:r>
              <a:rPr lang="es-ES" sz="1400" b="0">
                <a:solidFill>
                  <a:srgbClr val="64748B"/>
                </a:solidFill>
                <a:latin typeface="Aptos"/>
              </a:rPr>
              <a:t> IDEA </a:t>
            </a:r>
            <a:r>
              <a:rPr lang="es-ES" sz="1400" b="0" dirty="0">
                <a:solidFill>
                  <a:srgbClr val="64748B"/>
                </a:solidFill>
                <a:latin typeface="Aptos"/>
              </a:rPr>
              <a:t>en</a:t>
            </a:r>
            <a:r>
              <a:rPr sz="1400" b="0" dirty="0">
                <a:solidFill>
                  <a:srgbClr val="64748B"/>
                </a:solidFill>
                <a:latin typeface="Aptos"/>
              </a:rPr>
              <a:t> </a:t>
            </a:r>
            <a:r>
              <a:rPr sz="1400" b="0" dirty="0" err="1">
                <a:solidFill>
                  <a:srgbClr val="64748B"/>
                </a:solidFill>
                <a:latin typeface="Aptos"/>
              </a:rPr>
              <a:t>archivos</a:t>
            </a:r>
            <a:r>
              <a:rPr sz="1400" b="0" dirty="0">
                <a:solidFill>
                  <a:srgbClr val="64748B"/>
                </a:solidFill>
                <a:latin typeface="Aptos"/>
              </a:rPr>
              <a:t> </a:t>
            </a:r>
            <a:r>
              <a:rPr lang="es-ES" sz="1400" b="0" dirty="0">
                <a:solidFill>
                  <a:srgbClr val="64748B"/>
                </a:solidFill>
                <a:latin typeface="Aptos"/>
              </a:rPr>
              <a:t>.http </a:t>
            </a:r>
            <a:r>
              <a:rPr sz="1400" b="0" dirty="0" err="1">
                <a:solidFill>
                  <a:srgbClr val="64748B"/>
                </a:solidFill>
                <a:latin typeface="Aptos"/>
              </a:rPr>
              <a:t>separados</a:t>
            </a:r>
            <a:r>
              <a:rPr sz="1400" b="0" dirty="0">
                <a:solidFill>
                  <a:srgbClr val="64748B"/>
                </a:solidFill>
                <a:latin typeface="Aptos"/>
              </a:rPr>
              <a:t> </a:t>
            </a:r>
            <a:r>
              <a:rPr sz="1400" b="0" dirty="0" err="1">
                <a:solidFill>
                  <a:srgbClr val="64748B"/>
                </a:solidFill>
                <a:latin typeface="Aptos"/>
              </a:rPr>
              <a:t>por</a:t>
            </a:r>
            <a:r>
              <a:rPr sz="1400" b="0" dirty="0">
                <a:solidFill>
                  <a:srgbClr val="64748B"/>
                </a:solidFill>
                <a:latin typeface="Aptos"/>
              </a:rPr>
              <a:t> </a:t>
            </a:r>
            <a:r>
              <a:rPr lang="es-ES" sz="1400" dirty="0">
                <a:solidFill>
                  <a:srgbClr val="64748B"/>
                </a:solidFill>
                <a:latin typeface="Aptos"/>
              </a:rPr>
              <a:t>ROL</a:t>
            </a:r>
            <a:r>
              <a:rPr sz="1400" b="0" dirty="0">
                <a:solidFill>
                  <a:srgbClr val="64748B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810512"/>
            <a:ext cx="3931920" cy="3520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Obtener el menú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Crear un pedido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Simular un pago con tarjeta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Obtener el ticket del pedido después de procesar el pago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Enviar un feedback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s-ES" sz="12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EXTRA: Obtener una recomendación de combo para “X” comensales y precio limite, gracias al API de 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9730" y="1889760"/>
            <a:ext cx="114300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ptos"/>
              </a:rPr>
              <a:t>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1502" y="1755648"/>
            <a:ext cx="3718560" cy="354787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Gestionar los pedidos en cocina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s-ES" sz="12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Cambiar el estado de un pedido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s-ES" sz="12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Validar los pagos en efectivo</a:t>
            </a:r>
            <a:endParaRPr sz="12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577840" y="1889760"/>
            <a:ext cx="114300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ptos"/>
              </a:rPr>
              <a:t>EMPLOYEE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783080"/>
            <a:ext cx="3558540" cy="354787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Ver el dashboard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s-ES" sz="12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Obtener los gráficos de ventas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s-ES" sz="12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Obtener una respuesta de la IA referente a los feedbacks por su estado, POSITIVE, NEGATIVE o NEUTRAL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s-ES" sz="12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sz="1200" dirty="0">
                <a:solidFill>
                  <a:schemeClr val="tx1"/>
                </a:solidFill>
                <a:latin typeface="Aptos" panose="020B0004020202020204" pitchFamily="34" charset="0"/>
              </a:rPr>
              <a:t>LLM local para consultas, READ ONLY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s-ES" sz="11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372600" y="1889760"/>
            <a:ext cx="1143000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ADMIN</a:t>
            </a:r>
          </a:p>
        </p:txBody>
      </p:sp>
      <p:sp>
        <p:nvSpPr>
          <p:cNvPr id="20" name="Rounded Rectangle 8">
            <a:extLst>
              <a:ext uri="{FF2B5EF4-FFF2-40B4-BE49-F238E27FC236}">
                <a16:creationId xmlns:a16="http://schemas.microsoft.com/office/drawing/2014/main" id="{81A7DEA2-2EA3-E290-CDA4-B1EE9DAA7171}"/>
              </a:ext>
            </a:extLst>
          </p:cNvPr>
          <p:cNvSpPr/>
          <p:nvPr/>
        </p:nvSpPr>
        <p:spPr>
          <a:xfrm>
            <a:off x="1082040" y="5532120"/>
            <a:ext cx="2278380" cy="38404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/>
              <a:t>CUSTOMER_REQUESTS.http</a:t>
            </a:r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36BABE6-E3E6-F78D-C0F4-9454A65F83D4}"/>
              </a:ext>
            </a:extLst>
          </p:cNvPr>
          <p:cNvSpPr/>
          <p:nvPr/>
        </p:nvSpPr>
        <p:spPr>
          <a:xfrm>
            <a:off x="5010150" y="5532120"/>
            <a:ext cx="227838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dirty="0">
                <a:solidFill>
                  <a:srgbClr val="FFFFFF"/>
                </a:solidFill>
                <a:latin typeface="Aptos"/>
              </a:rPr>
              <a:t>EMPLOYEE</a:t>
            </a:r>
            <a:r>
              <a:rPr lang="es-ES" sz="1200" dirty="0"/>
              <a:t> _</a:t>
            </a:r>
            <a:r>
              <a:rPr lang="es-ES" sz="1200" dirty="0" err="1"/>
              <a:t>REQUESTS.http</a:t>
            </a:r>
            <a:endParaRPr sz="13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Rounded Rectangle 14">
            <a:extLst>
              <a:ext uri="{FF2B5EF4-FFF2-40B4-BE49-F238E27FC236}">
                <a16:creationId xmlns:a16="http://schemas.microsoft.com/office/drawing/2014/main" id="{EB342B67-83A5-FD8B-1353-8CF5B73DAB60}"/>
              </a:ext>
            </a:extLst>
          </p:cNvPr>
          <p:cNvSpPr/>
          <p:nvPr/>
        </p:nvSpPr>
        <p:spPr>
          <a:xfrm>
            <a:off x="8759190" y="5532120"/>
            <a:ext cx="2278380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00" b="1" dirty="0">
                <a:solidFill>
                  <a:srgbClr val="FFFFFF"/>
                </a:solidFill>
                <a:latin typeface="Aptos"/>
              </a:rPr>
              <a:t>ADMIN_REQUESTS.http</a:t>
            </a:r>
            <a:endParaRPr sz="1300" b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ptos"/>
              </a:rPr>
              <a:t>SMARTQR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0080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748B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789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800" b="1" dirty="0">
                <a:solidFill>
                  <a:srgbClr val="111827"/>
                </a:solidFill>
                <a:latin typeface="Aptos Display"/>
              </a:rPr>
              <a:t>Mejoras futuras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740" y="1318748"/>
            <a:ext cx="7536180" cy="440484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20140" y="1602212"/>
            <a:ext cx="6598920" cy="386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500"/>
              </a:spcAft>
            </a:pPr>
            <a:r>
              <a:rPr sz="2000" dirty="0">
                <a:solidFill>
                  <a:srgbClr val="475569"/>
                </a:solidFill>
                <a:latin typeface="Aptos"/>
              </a:rPr>
              <a:t>•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Añadir</a:t>
            </a:r>
            <a:r>
              <a:rPr sz="2000" dirty="0">
                <a:solidFill>
                  <a:srgbClr val="475569"/>
                </a:solidFill>
                <a:latin typeface="Aptos"/>
              </a:rPr>
              <a:t> un frontend para que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el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flujo</a:t>
            </a:r>
            <a:r>
              <a:rPr sz="2000" dirty="0">
                <a:solidFill>
                  <a:srgbClr val="475569"/>
                </a:solidFill>
                <a:latin typeface="Aptos"/>
              </a:rPr>
              <a:t> se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vea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completo</a:t>
            </a:r>
            <a:r>
              <a:rPr sz="2000" dirty="0">
                <a:solidFill>
                  <a:srgbClr val="475569"/>
                </a:solidFill>
                <a:latin typeface="Aptos"/>
              </a:rPr>
              <a:t> de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cara</a:t>
            </a:r>
            <a:r>
              <a:rPr sz="2000" dirty="0">
                <a:solidFill>
                  <a:srgbClr val="475569"/>
                </a:solidFill>
                <a:latin typeface="Aptos"/>
              </a:rPr>
              <a:t> al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usuario</a:t>
            </a:r>
            <a:r>
              <a:rPr sz="2000" dirty="0">
                <a:solidFill>
                  <a:srgbClr val="475569"/>
                </a:solidFill>
                <a:latin typeface="Aptos"/>
              </a:rPr>
              <a:t>.</a:t>
            </a:r>
            <a:endParaRPr lang="es-ES" sz="2000" dirty="0">
              <a:solidFill>
                <a:srgbClr val="475569"/>
              </a:solidFill>
              <a:latin typeface="Aptos"/>
            </a:endParaRPr>
          </a:p>
          <a:p>
            <a:pPr algn="just">
              <a:spcAft>
                <a:spcPts val="500"/>
              </a:spcAft>
            </a:pPr>
            <a:endParaRPr sz="2000" dirty="0">
              <a:solidFill>
                <a:srgbClr val="475569"/>
              </a:solidFill>
              <a:latin typeface="Aptos"/>
            </a:endParaRPr>
          </a:p>
          <a:p>
            <a:pPr algn="just">
              <a:spcAft>
                <a:spcPts val="500"/>
              </a:spcAft>
            </a:pPr>
            <a:r>
              <a:rPr sz="2000" dirty="0">
                <a:solidFill>
                  <a:srgbClr val="475569"/>
                </a:solidFill>
                <a:latin typeface="Aptos"/>
              </a:rPr>
              <a:t>•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Mejorar</a:t>
            </a:r>
            <a:r>
              <a:rPr sz="2000" dirty="0">
                <a:solidFill>
                  <a:srgbClr val="475569"/>
                </a:solidFill>
                <a:latin typeface="Aptos"/>
              </a:rPr>
              <a:t> la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estimación</a:t>
            </a:r>
            <a:r>
              <a:rPr sz="2000" dirty="0">
                <a:solidFill>
                  <a:srgbClr val="475569"/>
                </a:solidFill>
                <a:latin typeface="Aptos"/>
              </a:rPr>
              <a:t> visual del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tiempo</a:t>
            </a:r>
            <a:r>
              <a:rPr sz="2000" dirty="0">
                <a:solidFill>
                  <a:srgbClr val="475569"/>
                </a:solidFill>
                <a:latin typeface="Aptos"/>
              </a:rPr>
              <a:t> de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espera</a:t>
            </a:r>
            <a:r>
              <a:rPr sz="2000" dirty="0">
                <a:solidFill>
                  <a:srgbClr val="475569"/>
                </a:solidFill>
                <a:latin typeface="Aptos"/>
              </a:rPr>
              <a:t> del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pedido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propio</a:t>
            </a:r>
            <a:r>
              <a:rPr sz="2000" dirty="0">
                <a:solidFill>
                  <a:srgbClr val="475569"/>
                </a:solidFill>
                <a:latin typeface="Aptos"/>
              </a:rPr>
              <a:t>.</a:t>
            </a:r>
            <a:endParaRPr lang="es-ES" sz="2000" dirty="0">
              <a:solidFill>
                <a:srgbClr val="475569"/>
              </a:solidFill>
              <a:latin typeface="Aptos"/>
            </a:endParaRPr>
          </a:p>
          <a:p>
            <a:pPr algn="just">
              <a:spcAft>
                <a:spcPts val="500"/>
              </a:spcAft>
            </a:pPr>
            <a:endParaRPr sz="2000" dirty="0">
              <a:solidFill>
                <a:srgbClr val="475569"/>
              </a:solidFill>
              <a:latin typeface="Aptos"/>
            </a:endParaRPr>
          </a:p>
          <a:p>
            <a:pPr algn="just">
              <a:spcAft>
                <a:spcPts val="500"/>
              </a:spcAft>
            </a:pPr>
            <a:r>
              <a:rPr sz="2000" dirty="0">
                <a:solidFill>
                  <a:srgbClr val="475569"/>
                </a:solidFill>
                <a:latin typeface="Aptos"/>
              </a:rPr>
              <a:t>•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Ampliar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el</a:t>
            </a:r>
            <a:r>
              <a:rPr sz="2000" dirty="0">
                <a:solidFill>
                  <a:srgbClr val="475569"/>
                </a:solidFill>
                <a:latin typeface="Aptos"/>
              </a:rPr>
              <a:t> dashboard con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más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filtros</a:t>
            </a:r>
            <a:r>
              <a:rPr sz="2000" dirty="0">
                <a:solidFill>
                  <a:srgbClr val="475569"/>
                </a:solidFill>
                <a:latin typeface="Aptos"/>
              </a:rPr>
              <a:t> e histórico de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métricas</a:t>
            </a:r>
            <a:r>
              <a:rPr sz="2000" dirty="0">
                <a:solidFill>
                  <a:srgbClr val="475569"/>
                </a:solidFill>
                <a:latin typeface="Aptos"/>
              </a:rPr>
              <a:t>.</a:t>
            </a:r>
            <a:endParaRPr lang="es-ES" sz="2000" dirty="0">
              <a:solidFill>
                <a:srgbClr val="475569"/>
              </a:solidFill>
              <a:latin typeface="Aptos"/>
            </a:endParaRPr>
          </a:p>
          <a:p>
            <a:pPr algn="just">
              <a:spcAft>
                <a:spcPts val="500"/>
              </a:spcAft>
            </a:pPr>
            <a:endParaRPr sz="2000" dirty="0">
              <a:solidFill>
                <a:srgbClr val="475569"/>
              </a:solidFill>
              <a:latin typeface="Aptos"/>
            </a:endParaRPr>
          </a:p>
          <a:p>
            <a:pPr algn="just">
              <a:spcAft>
                <a:spcPts val="500"/>
              </a:spcAft>
            </a:pPr>
            <a:r>
              <a:rPr sz="2000" dirty="0">
                <a:solidFill>
                  <a:srgbClr val="475569"/>
                </a:solidFill>
                <a:latin typeface="Aptos"/>
              </a:rPr>
              <a:t>•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Reforzar</a:t>
            </a:r>
            <a:r>
              <a:rPr sz="2000" dirty="0">
                <a:solidFill>
                  <a:srgbClr val="475569"/>
                </a:solidFill>
                <a:latin typeface="Aptos"/>
              </a:rPr>
              <a:t> tests y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validaciones</a:t>
            </a:r>
            <a:r>
              <a:rPr sz="2000" dirty="0">
                <a:solidFill>
                  <a:srgbClr val="475569"/>
                </a:solidFill>
                <a:latin typeface="Aptos"/>
              </a:rPr>
              <a:t> para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cubrir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mejor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el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flujo</a:t>
            </a:r>
            <a:r>
              <a:rPr sz="2000" dirty="0">
                <a:solidFill>
                  <a:srgbClr val="475569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475569"/>
                </a:solidFill>
                <a:latin typeface="Aptos"/>
              </a:rPr>
              <a:t>completo</a:t>
            </a:r>
            <a:r>
              <a:rPr sz="2000" dirty="0">
                <a:solidFill>
                  <a:srgbClr val="475569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3BD7AF-2158-FB79-66B2-6B4C97A5C628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F0CAB-52B7-3D47-C039-3BD9FE51723A}"/>
              </a:ext>
            </a:extLst>
          </p:cNvPr>
          <p:cNvSpPr/>
          <p:nvPr/>
        </p:nvSpPr>
        <p:spPr>
          <a:xfrm>
            <a:off x="9235440" y="0"/>
            <a:ext cx="295625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1CF1949-1EB3-61C9-A370-FBDEA28F7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908"/>
            <a:ext cx="12192000" cy="675409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2FED305-E525-E5E6-5C45-32C1EEC28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1760" y="608584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362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789</Words>
  <Application>Microsoft Office PowerPoint</Application>
  <PresentationFormat>Panorámica</PresentationFormat>
  <Paragraphs>166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Silvia Engra Rosell</cp:lastModifiedBy>
  <cp:revision>3</cp:revision>
  <dcterms:created xsi:type="dcterms:W3CDTF">2013-01-27T09:14:16Z</dcterms:created>
  <dcterms:modified xsi:type="dcterms:W3CDTF">2026-06-05T21:29:46Z</dcterms:modified>
  <cp:category/>
</cp:coreProperties>
</file>